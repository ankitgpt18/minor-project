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502920"/>
          </a:xfrm>
          <a:prstGeom prst="rect">
            <a:avLst/>
          </a:prstGeom>
          <a:noFill/>
        </p:spPr>
        <p:txBody>
          <a:bodyPr wrap="square" tIns="0" lIns="0" rIns="0" bIns="0">
            <a:spAutoFit/>
          </a:bodyPr>
          <a:lstStyle/>
          <a:p>
            <a:pPr>
              <a:spcBef>
                <a:spcPts val="0"/>
              </a:spcBef>
              <a:spcAft>
                <a:spcPts val="0"/>
              </a:spcAft>
              <a:defRPr sz="1900" b="1" i="0">
                <a:solidFill>
                  <a:srgbClr val="1B365D"/>
                </a:solidFill>
                <a:latin typeface="Calibri"/>
              </a:defRPr>
            </a:pPr>
            <a:r>
              <a:t>Decentralized Tactical Edge Federated Learning for Forward-Area Ammunition and Fuel Resupply</a:t>
            </a:r>
          </a:p>
        </p:txBody>
      </p:sp>
      <p:sp>
        <p:nvSpPr>
          <p:cNvPr id="4" name="TextBox 3"/>
          <p:cNvSpPr txBox="1"/>
          <p:nvPr/>
        </p:nvSpPr>
        <p:spPr>
          <a:xfrm>
            <a:off x="548640" y="749808"/>
            <a:ext cx="10058400" cy="274320"/>
          </a:xfrm>
          <a:prstGeom prst="rect">
            <a:avLst/>
          </a:prstGeom>
          <a:noFill/>
        </p:spPr>
        <p:txBody>
          <a:bodyPr wrap="square" tIns="0" lIns="0" rIns="0" bIns="0">
            <a:spAutoFit/>
          </a:bodyPr>
          <a:lstStyle/>
          <a:p>
            <a:pPr>
              <a:spcBef>
                <a:spcPts val="0"/>
              </a:spcBef>
              <a:spcAft>
                <a:spcPts val="0"/>
              </a:spcAft>
              <a:defRPr sz="1100" b="0" i="1">
                <a:solidFill>
                  <a:srgbClr val="64748B"/>
                </a:solidFill>
                <a:latin typeface="Calibri"/>
              </a:defRPr>
            </a:pPr>
            <a:r>
              <a:t>in Contested High-Altitude Mountain Frontiers along the Line of Actual Control (Eastern Ladakh)</a:t>
            </a:r>
          </a:p>
        </p:txBody>
      </p:sp>
      <p:sp>
        <p:nvSpPr>
          <p:cNvPr id="5" name="Rounded Rectangle 4"/>
          <p:cNvSpPr/>
          <p:nvPr/>
        </p:nvSpPr>
        <p:spPr>
          <a:xfrm>
            <a:off x="10241280" y="320040"/>
            <a:ext cx="1371600" cy="219456"/>
          </a:xfrm>
          <a:prstGeom prst="roundRect">
            <a:avLst>
              <a:gd name="adj" fmla="val 15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TACTICAL EDGE FL</a:t>
            </a:r>
          </a:p>
        </p:txBody>
      </p:sp>
      <p:sp>
        <p:nvSpPr>
          <p:cNvPr id="6" name="Rounded Rectangle 5"/>
          <p:cNvSpPr/>
          <p:nvPr/>
        </p:nvSpPr>
        <p:spPr>
          <a:xfrm>
            <a:off x="10241280" y="594360"/>
            <a:ext cx="1371600" cy="219456"/>
          </a:xfrm>
          <a:prstGeom prst="roundRect">
            <a:avLst>
              <a:gd name="adj" fmla="val 15000"/>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D-DIL RESILIENT</a:t>
            </a:r>
          </a:p>
        </p:txBody>
      </p:sp>
      <p:sp>
        <p:nvSpPr>
          <p:cNvPr id="7" name="TextBox 6"/>
          <p:cNvSpPr txBox="1"/>
          <p:nvPr/>
        </p:nvSpPr>
        <p:spPr>
          <a:xfrm>
            <a:off x="10241280" y="868680"/>
            <a:ext cx="1463040" cy="274320"/>
          </a:xfrm>
          <a:prstGeom prst="rect">
            <a:avLst/>
          </a:prstGeom>
          <a:noFill/>
        </p:spPr>
        <p:txBody>
          <a:bodyPr wrap="square" tIns="0" lIns="0" rIns="0" bIns="0">
            <a:spAutoFit/>
          </a:bodyPr>
          <a:lstStyle/>
          <a:p>
            <a:pPr>
              <a:spcBef>
                <a:spcPts val="0"/>
              </a:spcBef>
              <a:spcAft>
                <a:spcPts val="0"/>
              </a:spcAft>
              <a:defRPr sz="750" b="0" i="0">
                <a:solidFill>
                  <a:srgbClr val="64748B"/>
                </a:solidFill>
                <a:latin typeface="Calibri"/>
              </a:defRPr>
            </a:pPr>
            <a:r>
              <a:t>Ankit Gupta | 23AI010 | GSV</a:t>
            </a:r>
          </a:p>
        </p:txBody>
      </p:sp>
      <p:sp>
        <p:nvSpPr>
          <p:cNvPr id="8" name="Rounded Rectangle 7"/>
          <p:cNvSpPr/>
          <p:nvPr/>
        </p:nvSpPr>
        <p:spPr>
          <a:xfrm>
            <a:off x="548640" y="1097280"/>
            <a:ext cx="11094415" cy="1051560"/>
          </a:xfrm>
          <a:prstGeom prst="roundRect">
            <a:avLst>
              <a:gd name="adj" fmla="val 4000"/>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88720"/>
            <a:ext cx="10728655" cy="868680"/>
          </a:xfrm>
          <a:prstGeom prst="rect">
            <a:avLst/>
          </a:prstGeom>
          <a:noFill/>
        </p:spPr>
        <p:txBody>
          <a:bodyPr wrap="square" tIns="0" lIns="0" rIns="0" bIns="0">
            <a:spAutoFit/>
          </a:bodyPr>
          <a:lstStyle/>
          <a:p>
            <a:pPr>
              <a:spcBef>
                <a:spcPts val="0"/>
              </a:spcBef>
              <a:spcAft>
                <a:spcPts val="400"/>
              </a:spcAft>
              <a:defRPr sz="1200" b="1" i="0">
                <a:solidFill>
                  <a:srgbClr val="1B365D"/>
                </a:solidFill>
                <a:latin typeface="Calibri"/>
              </a:defRPr>
            </a:pPr>
            <a:r>
              <a:t>The Ground Reality</a:t>
            </a:r>
          </a:p>
          <a:p>
            <a:pPr>
              <a:spcBef>
                <a:spcPts val="0"/>
              </a:spcBef>
              <a:spcAft>
                <a:spcPts val="0"/>
              </a:spcAft>
              <a:defRPr sz="900" b="0" i="0">
                <a:solidFill>
                  <a:srgbClr val="334155"/>
                </a:solidFill>
                <a:latin typeface="Calibri"/>
              </a:defRPr>
            </a:pPr>
            <a:r>
              <a:t>Forward artillery outposts and isolated ridge-line bunkers along the LAC burn through 155mm shells, winter diesel, and drone batteries at dynamic, unpredictable rates during active combat. Heavy 10-ton supply trucks from rear base depots physically cannot climb 16,000-foot cliff positions. Cargo must transfer to light 4x4 vehicles, pack mules, and autonomous heavy-lift drones for the final vertical lift through some of the most hazardous mountain passes on Earth: Khardung La (17,982 ft), Chang La (17,590 ft), and Zojila (11,578 ft). Traditional supply chain planning breaks down here because ammunition burn rates shift every ten minutes during active firing, roads get buried under sudden blizzards and rockfalls, and enemy artillery interdiction can shut down entire supply corridors in seconds.</a:t>
            </a:r>
          </a:p>
        </p:txBody>
      </p:sp>
      <p:sp>
        <p:nvSpPr>
          <p:cNvPr id="10" name="Rounded Rectangle 9"/>
          <p:cNvSpPr/>
          <p:nvPr/>
        </p:nvSpPr>
        <p:spPr>
          <a:xfrm>
            <a:off x="548640" y="2331720"/>
            <a:ext cx="3576218" cy="429768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96312"/>
            <a:ext cx="3247034" cy="3968496"/>
          </a:xfrm>
          <a:prstGeom prst="rect">
            <a:avLst/>
          </a:prstGeom>
          <a:noFill/>
        </p:spPr>
        <p:txBody>
          <a:bodyPr wrap="square" tIns="0" lIns="0" rIns="0" bIns="0">
            <a:spAutoFit/>
          </a:bodyPr>
          <a:lstStyle/>
          <a:p>
            <a:pPr>
              <a:spcBef>
                <a:spcPts val="0"/>
              </a:spcBef>
              <a:spcAft>
                <a:spcPts val="200"/>
              </a:spcAft>
              <a:defRPr sz="1300" b="1" i="0">
                <a:solidFill>
                  <a:srgbClr val="1B365D"/>
                </a:solidFill>
                <a:latin typeface="Calibri"/>
              </a:defRPr>
            </a:pPr>
            <a:r>
              <a:t>The Combat Deadlock</a:t>
            </a:r>
          </a:p>
          <a:p>
            <a:pPr>
              <a:spcBef>
                <a:spcPts val="0"/>
              </a:spcBef>
              <a:spcAft>
                <a:spcPts val="600"/>
              </a:spcAft>
              <a:defRPr sz="850" b="0" i="1">
                <a:solidFill>
                  <a:srgbClr val="64748B"/>
                </a:solidFill>
                <a:latin typeface="Calibri"/>
              </a:defRPr>
            </a:pPr>
            <a:r>
              <a:t>Why no existing logistics AI handles this</a:t>
            </a:r>
          </a:p>
          <a:p>
            <a:pPr>
              <a:spcAft>
                <a:spcPts val="300"/>
              </a:spcAft>
            </a:pPr>
            <a:r>
              <a:rPr sz="900" b="1">
                <a:solidFill>
                  <a:srgbClr val="1B365D"/>
                </a:solidFill>
                <a:latin typeface="Calibri"/>
              </a:rPr>
              <a:t>Why traditional supply chains collapse:</a:t>
            </a:r>
            <a:r>
              <a:rPr sz="900" b="0">
                <a:solidFill>
                  <a:srgbClr val="334155"/>
                </a:solidFill>
                <a:latin typeface="Calibri"/>
              </a:rPr>
              <a:t> </a:t>
            </a:r>
          </a:p>
          <a:p>
            <a:pPr>
              <a:spcBef>
                <a:spcPts val="0"/>
              </a:spcBef>
              <a:spcAft>
                <a:spcPts val="300"/>
              </a:spcAft>
              <a:defRPr sz="900" b="0" i="0">
                <a:solidFill>
                  <a:srgbClr val="334155"/>
                </a:solidFill>
                <a:latin typeface="Calibri"/>
              </a:defRPr>
            </a:pPr>
            <a:r>
              <a:t>• Ammunition burn rates are not static. During an active artillery exchange, a single 155mm battery can exhaust its entire stock in under 45 minutes. Resupply must adapt in near real-time.</a:t>
            </a:r>
          </a:p>
          <a:p>
            <a:pPr>
              <a:spcBef>
                <a:spcPts val="0"/>
              </a:spcBef>
              <a:spcAft>
                <a:spcPts val="300"/>
              </a:spcAft>
              <a:defRPr sz="900" b="0" i="0">
                <a:solidFill>
                  <a:srgbClr val="334155"/>
                </a:solidFill>
                <a:latin typeface="Calibri"/>
              </a:defRPr>
            </a:pPr>
            <a:r>
              <a:t>• Single-lane mountain roads face sudden blizzards (visibility drops to zero in minutes), rockfalls that block entire corridors, and deliberate enemy artillery interdiction targeting choke points.</a:t>
            </a:r>
          </a:p>
          <a:p>
            <a:pPr>
              <a:spcBef>
                <a:spcPts val="0"/>
              </a:spcBef>
              <a:spcAft>
                <a:spcPts val="300"/>
              </a:spcAft>
              <a:defRPr sz="900" b="0" i="0">
                <a:solidFill>
                  <a:srgbClr val="334155"/>
                </a:solidFill>
                <a:latin typeface="Calibri"/>
              </a:defRPr>
            </a:pPr>
            <a:r>
              <a:t>• Multi-modal handover complexity: supplies must move through at least 3 transfer tiers (heavy truck to light 4x4 to drone or mule) before reaching cliff-side forward bunkers.</a:t>
            </a:r>
          </a:p>
          <a:p>
            <a:pPr>
              <a:spcBef>
                <a:spcPts val="0"/>
              </a:spcBef>
              <a:spcAft>
                <a:spcPts val="300"/>
              </a:spcAft>
              <a:defRPr sz="900" b="0" i="0">
                <a:solidFill>
                  <a:srgbClr val="334155"/>
                </a:solidFill>
                <a:latin typeface="Calibri"/>
              </a:defRPr>
            </a:pPr>
            <a:r>
              <a:t>• Sub-zero conditions (down to -35 degrees C) cause 40% to 50% lithium battery capacity loss in autonomous resupply drones, drastically shortening effective flight range.</a:t>
            </a:r>
          </a:p>
          <a:p>
            <a:pPr>
              <a:spcBef>
                <a:spcPts val="0"/>
              </a:spcBef>
              <a:spcAft>
                <a:spcPts val="0"/>
              </a:spcAft>
              <a:defRPr sz="900" b="0" i="0">
                <a:solidFill>
                  <a:srgbClr val="334155"/>
                </a:solidFill>
                <a:latin typeface="Calibri"/>
              </a:defRPr>
            </a:pPr>
            <a:r>
              <a:t>• There is no "retry later" option. If an outpost runs dry on ammunition during an enemy offensive, the consequences are catastrophic and immediate.</a:t>
            </a:r>
          </a:p>
        </p:txBody>
      </p:sp>
      <p:sp>
        <p:nvSpPr>
          <p:cNvPr id="12" name="Rounded Rectangle 11"/>
          <p:cNvSpPr/>
          <p:nvPr/>
        </p:nvSpPr>
        <p:spPr>
          <a:xfrm>
            <a:off x="4307738" y="2331720"/>
            <a:ext cx="3576218" cy="429768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2330" y="2496312"/>
            <a:ext cx="3247034" cy="3968496"/>
          </a:xfrm>
          <a:prstGeom prst="rect">
            <a:avLst/>
          </a:prstGeom>
          <a:noFill/>
        </p:spPr>
        <p:txBody>
          <a:bodyPr wrap="square" tIns="0" lIns="0" rIns="0" bIns="0">
            <a:spAutoFit/>
          </a:bodyPr>
          <a:lstStyle/>
          <a:p>
            <a:pPr>
              <a:spcBef>
                <a:spcPts val="0"/>
              </a:spcBef>
              <a:spcAft>
                <a:spcPts val="200"/>
              </a:spcAft>
              <a:defRPr sz="1300" b="1" i="0">
                <a:solidFill>
                  <a:srgbClr val="1B365D"/>
                </a:solidFill>
                <a:latin typeface="Calibri"/>
              </a:defRPr>
            </a:pPr>
            <a:r>
              <a:t>Why Centralized Cloud AI Fails</a:t>
            </a:r>
          </a:p>
          <a:p>
            <a:pPr>
              <a:spcBef>
                <a:spcPts val="0"/>
              </a:spcBef>
              <a:spcAft>
                <a:spcPts val="600"/>
              </a:spcAft>
              <a:defRPr sz="850" b="0" i="1">
                <a:solidFill>
                  <a:srgbClr val="64748B"/>
                </a:solidFill>
                <a:latin typeface="Calibri"/>
              </a:defRPr>
            </a:pPr>
            <a:r>
              <a:t>The fatal flaw of cloud-dependent military AI</a:t>
            </a:r>
          </a:p>
          <a:p>
            <a:pPr>
              <a:spcAft>
                <a:spcPts val="300"/>
              </a:spcAft>
            </a:pPr>
            <a:r>
              <a:rPr sz="900" b="1">
                <a:solidFill>
                  <a:srgbClr val="1B365D"/>
                </a:solidFill>
                <a:latin typeface="Calibri"/>
              </a:rPr>
              <a:t>Electronic Intercept (SIGINT):</a:t>
            </a:r>
            <a:r>
              <a:rPr sz="900" b="0">
                <a:solidFill>
                  <a:srgbClr val="334155"/>
                </a:solidFill>
                <a:latin typeface="Calibri"/>
              </a:rPr>
              <a:t> If any forward unit streams live ammunition stocks, vehicle GPS coordinates, or flight paths to a central cloud server, enemy electronic warfare detects the radio transmission. Direction-finding radar pinpoints the supply hub. Precision loitering munitions or missiles follow within minutes.</a:t>
            </a:r>
          </a:p>
          <a:p>
            <a:pPr>
              <a:spcAft>
                <a:spcPts val="300"/>
              </a:spcAft>
            </a:pPr>
            <a:r>
              <a:rPr sz="900" b="1">
                <a:solidFill>
                  <a:srgbClr val="1B365D"/>
                </a:solidFill>
                <a:latin typeface="Calibri"/>
              </a:rPr>
              <a:t>Complete Network Blackouts:</a:t>
            </a:r>
            <a:r>
              <a:rPr sz="900" b="0">
                <a:solidFill>
                  <a:srgbClr val="334155"/>
                </a:solidFill>
                <a:latin typeface="Calibri"/>
              </a:rPr>
              <a:t> Enemy electronic jamming routinely creates D-DIL (Denied, Disconnected, Intermittent, Limited) environments. Satellite uplinks, cellular towers, and long-range radio backhauls are severed. A centralized AI system that depends on cloud connectivity simply freezes. No predictions, no routing, no coordination.</a:t>
            </a:r>
          </a:p>
          <a:p>
            <a:pPr>
              <a:spcAft>
                <a:spcPts val="300"/>
              </a:spcAft>
            </a:pPr>
            <a:r>
              <a:rPr sz="900" b="1">
                <a:solidFill>
                  <a:srgbClr val="1B365D"/>
                </a:solidFill>
                <a:latin typeface="Calibri"/>
              </a:rPr>
              <a:t>Single Point of Failure:</a:t>
            </a:r>
            <a:r>
              <a:rPr sz="900" b="0">
                <a:solidFill>
                  <a:srgbClr val="334155"/>
                </a:solidFill>
                <a:latin typeface="Calibri"/>
              </a:rPr>
              <a:t> If the central HQ aggregation server is jammed, destroyed, or compromised, the entire forward logistics network crashes instantly. Every connected unit loses its decision-making capability.</a:t>
            </a:r>
          </a:p>
          <a:p>
            <a:pPr>
              <a:spcAft>
                <a:spcPts val="0"/>
              </a:spcAft>
            </a:pPr>
            <a:r>
              <a:rPr sz="900" b="1">
                <a:solidFill>
                  <a:srgbClr val="1B365D"/>
                </a:solidFill>
                <a:latin typeface="Calibri"/>
              </a:rPr>
              <a:t>Gradient Inversion Attacks:</a:t>
            </a:r>
            <a:r>
              <a:rPr sz="900" b="0">
                <a:solidFill>
                  <a:srgbClr val="334155"/>
                </a:solidFill>
                <a:latin typeface="Calibri"/>
              </a:rPr>
              <a:t> Even basic Federated Learning (FedAvg) with a central server is vulnerable. Adversaries can analyze transmitted model gradients to reconstruct which specific outpost is running low on which supplies.</a:t>
            </a:r>
          </a:p>
        </p:txBody>
      </p:sp>
      <p:sp>
        <p:nvSpPr>
          <p:cNvPr id="14" name="Rounded Rectangle 13"/>
          <p:cNvSpPr/>
          <p:nvPr/>
        </p:nvSpPr>
        <p:spPr>
          <a:xfrm>
            <a:off x="8066836" y="2331720"/>
            <a:ext cx="3576218" cy="429768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1428" y="2496312"/>
            <a:ext cx="3247034" cy="3968496"/>
          </a:xfrm>
          <a:prstGeom prst="rect">
            <a:avLst/>
          </a:prstGeom>
          <a:noFill/>
        </p:spPr>
        <p:txBody>
          <a:bodyPr wrap="square" tIns="0" lIns="0" rIns="0" bIns="0">
            <a:spAutoFit/>
          </a:bodyPr>
          <a:lstStyle/>
          <a:p>
            <a:pPr>
              <a:spcBef>
                <a:spcPts val="0"/>
              </a:spcBef>
              <a:spcAft>
                <a:spcPts val="200"/>
              </a:spcAft>
              <a:defRPr sz="1300" b="1" i="0">
                <a:solidFill>
                  <a:srgbClr val="1B365D"/>
                </a:solidFill>
                <a:latin typeface="Calibri"/>
              </a:defRPr>
            </a:pPr>
            <a:r>
              <a:t>Core MVP vs Phased Scope</a:t>
            </a:r>
          </a:p>
          <a:p>
            <a:pPr>
              <a:spcBef>
                <a:spcPts val="0"/>
              </a:spcBef>
              <a:spcAft>
                <a:spcPts val="600"/>
              </a:spcAft>
              <a:defRPr sz="850" b="0" i="1">
                <a:solidFill>
                  <a:srgbClr val="64748B"/>
                </a:solidFill>
                <a:latin typeface="Calibri"/>
              </a:defRPr>
            </a:pPr>
            <a:r>
              <a:t>Priorities for the engineering roadmap</a:t>
            </a:r>
          </a:p>
          <a:p>
            <a:pPr>
              <a:spcAft>
                <a:spcPts val="300"/>
              </a:spcAft>
            </a:pPr>
            <a:r>
              <a:rPr sz="900" b="1">
                <a:solidFill>
                  <a:srgbClr val="1B365D"/>
                </a:solidFill>
                <a:latin typeface="Calibri"/>
              </a:rPr>
              <a:t>MUST SOLVE FIRST (Core MVP):</a:t>
            </a:r>
            <a:r>
              <a:rPr sz="900" b="0">
                <a:solidFill>
                  <a:srgbClr val="334155"/>
                </a:solidFill>
                <a:latin typeface="Calibri"/>
              </a:rPr>
              <a:t> </a:t>
            </a:r>
          </a:p>
          <a:p>
            <a:pPr>
              <a:spcBef>
                <a:spcPts val="0"/>
              </a:spcBef>
              <a:spcAft>
                <a:spcPts val="300"/>
              </a:spcAft>
              <a:defRPr sz="900" b="0" i="0">
                <a:solidFill>
                  <a:srgbClr val="334155"/>
                </a:solidFill>
                <a:latin typeface="Calibri"/>
              </a:defRPr>
            </a:pPr>
            <a:r>
              <a:t>• Zero Location Leakage: Every edge node trains locally. Differential Privacy (DP-SGD) adds calibrated noise so that raw bunker coordinates, stock levels, and flight paths can never be reverse-engineered from shared model updates. Formal bound: epsilon = 2.0, delta = 1e-5.</a:t>
            </a:r>
          </a:p>
          <a:p>
            <a:pPr>
              <a:spcBef>
                <a:spcPts val="0"/>
              </a:spcBef>
              <a:spcAft>
                <a:spcPts val="300"/>
              </a:spcAft>
              <a:defRPr sz="900" b="0" i="0">
                <a:solidFill>
                  <a:srgbClr val="334155"/>
                </a:solidFill>
                <a:latin typeface="Calibri"/>
              </a:defRPr>
            </a:pPr>
            <a:r>
              <a:t>• Full Autonomy Under Blackouts: Peer-to-Peer Gossip Federated Learning over tactical VHF/UHF radio mesh (MANET). No central server, no satellite dependency. If 2 of 5 nodes go dark, the remaining 3 keep learning collaboratively.</a:t>
            </a:r>
          </a:p>
          <a:p>
            <a:pPr>
              <a:spcBef>
                <a:spcPts val="0"/>
              </a:spcBef>
              <a:spcAft>
                <a:spcPts val="300"/>
              </a:spcAft>
              <a:defRPr sz="900" b="0" i="0">
                <a:solidFill>
                  <a:srgbClr val="334155"/>
                </a:solidFill>
                <a:latin typeface="Calibri"/>
              </a:defRPr>
            </a:pPr>
          </a:p>
          <a:p>
            <a:pPr>
              <a:spcAft>
                <a:spcPts val="300"/>
              </a:spcAft>
            </a:pPr>
            <a:r>
              <a:rPr sz="900" b="1">
                <a:solidFill>
                  <a:srgbClr val="1B365D"/>
                </a:solidFill>
                <a:latin typeface="Calibri"/>
              </a:rPr>
              <a:t>PHASED SCOPE (Solve Later):</a:t>
            </a:r>
            <a:r>
              <a:rPr sz="900" b="0">
                <a:solidFill>
                  <a:srgbClr val="334155"/>
                </a:solidFill>
                <a:latin typeface="Calibri"/>
              </a:rPr>
              <a:t> </a:t>
            </a:r>
          </a:p>
          <a:p>
            <a:pPr>
              <a:spcBef>
                <a:spcPts val="0"/>
              </a:spcBef>
              <a:spcAft>
                <a:spcPts val="300"/>
              </a:spcAft>
              <a:defRPr sz="900" b="0" i="0">
                <a:solidFill>
                  <a:srgbClr val="334155"/>
                </a:solidFill>
                <a:latin typeface="Calibri"/>
              </a:defRPr>
            </a:pPr>
            <a:r>
              <a:t>• Byzantine Anti-Sabotage: If a forward outpost is physically overrun or a drone is captured, the adversary injects poisoned model updates. Coordinate-wise Trimmed Mean and Krum aggregation detect and discard these outlier updates (98.5% rejection rate).</a:t>
            </a:r>
          </a:p>
          <a:p>
            <a:pPr>
              <a:spcBef>
                <a:spcPts val="0"/>
              </a:spcBef>
              <a:spcAft>
                <a:spcPts val="0"/>
              </a:spcAft>
              <a:defRPr sz="900" b="0" i="0">
                <a:solidFill>
                  <a:srgbClr val="334155"/>
                </a:solidFill>
                <a:latin typeface="Calibri"/>
              </a:defRPr>
            </a:pPr>
            <a:r>
              <a:t>• Thermal Drone Battery Compensation: At -30 degrees C, lithium batteries lose 40% capacity. A State-of-Charge penalty function integrated into the local flight cost optimizer prevents mid-flight crashes in deep gorges.</a:t>
            </a:r>
          </a:p>
        </p:txBody>
      </p:sp>
      <p:sp>
        <p:nvSpPr>
          <p:cNvPr id="16" name="TextBox 15"/>
          <p:cNvSpPr txBox="1"/>
          <p:nvPr/>
        </p:nvSpPr>
        <p:spPr>
          <a:xfrm>
            <a:off x="548640" y="6675120"/>
            <a:ext cx="11094415" cy="164592"/>
          </a:xfrm>
          <a:prstGeom prst="rect">
            <a:avLst/>
          </a:prstGeom>
          <a:noFill/>
        </p:spPr>
        <p:txBody>
          <a:bodyPr wrap="square" tIns="0" lIns="0" rIns="0" bIns="0">
            <a:spAutoFit/>
          </a:bodyPr>
          <a:lstStyle/>
          <a:p>
            <a:pPr algn="ctr">
              <a:spcBef>
                <a:spcPts val="0"/>
              </a:spcBef>
              <a:spcAft>
                <a:spcPts val="0"/>
              </a:spcAft>
              <a:defRPr sz="750" b="0" i="0">
                <a:solidFill>
                  <a:srgbClr val="64748B"/>
                </a:solidFill>
                <a:latin typeface="Calibri"/>
              </a:defRPr>
            </a:pPr>
            <a:r>
              <a:t>Ankit Gupta (23AI010) | B.Tech CSE Sem 7 | Gati Shakti Vishwavidyalaya, Vadodara | Mentor: Dr. Shweta Saharan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601200" cy="457200"/>
          </a:xfrm>
          <a:prstGeom prst="rect">
            <a:avLst/>
          </a:prstGeom>
          <a:noFill/>
        </p:spPr>
        <p:txBody>
          <a:bodyPr wrap="square" tIns="0" lIns="0" rIns="0" bIns="0">
            <a:spAutoFit/>
          </a:bodyPr>
          <a:lstStyle/>
          <a:p>
            <a:pPr>
              <a:spcBef>
                <a:spcPts val="0"/>
              </a:spcBef>
              <a:spcAft>
                <a:spcPts val="0"/>
              </a:spcAft>
              <a:defRPr sz="1900" b="1" i="0">
                <a:solidFill>
                  <a:srgbClr val="1B365D"/>
                </a:solidFill>
                <a:latin typeface="Calibri"/>
              </a:defRPr>
            </a:pPr>
            <a:r>
              <a:t>Our Solution: Decentralized Tactical Edge Federated Learning Engine</a:t>
            </a:r>
          </a:p>
        </p:txBody>
      </p:sp>
      <p:sp>
        <p:nvSpPr>
          <p:cNvPr id="4" name="TextBox 3"/>
          <p:cNvSpPr txBox="1"/>
          <p:nvPr/>
        </p:nvSpPr>
        <p:spPr>
          <a:xfrm>
            <a:off x="548640" y="713232"/>
            <a:ext cx="9601200" cy="274320"/>
          </a:xfrm>
          <a:prstGeom prst="rect">
            <a:avLst/>
          </a:prstGeom>
          <a:noFill/>
        </p:spPr>
        <p:txBody>
          <a:bodyPr wrap="square" tIns="0" lIns="0" rIns="0" bIns="0">
            <a:spAutoFit/>
          </a:bodyPr>
          <a:lstStyle/>
          <a:p>
            <a:pPr>
              <a:spcBef>
                <a:spcPts val="0"/>
              </a:spcBef>
              <a:spcAft>
                <a:spcPts val="0"/>
              </a:spcAft>
              <a:defRPr sz="1100" b="0" i="1">
                <a:solidFill>
                  <a:srgbClr val="64748B"/>
                </a:solidFill>
                <a:latin typeface="Calibri"/>
              </a:defRPr>
            </a:pPr>
            <a:r>
              <a:t>Hardened Combat Architecture: Clustered P2P Gossip FL + Adaptive Rényi DP + SecAgg+ Zero-Knowledge Masking</a:t>
            </a:r>
          </a:p>
        </p:txBody>
      </p:sp>
      <p:sp>
        <p:nvSpPr>
          <p:cNvPr id="5" name="Rounded Rectangle 4"/>
          <p:cNvSpPr/>
          <p:nvPr/>
        </p:nvSpPr>
        <p:spPr>
          <a:xfrm>
            <a:off x="10241280" y="320040"/>
            <a:ext cx="1371600" cy="219456"/>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ZERO-KNOWLEDGE P2P</a:t>
            </a:r>
          </a:p>
        </p:txBody>
      </p:sp>
      <p:sp>
        <p:nvSpPr>
          <p:cNvPr id="6" name="Rounded Rectangle 5"/>
          <p:cNvSpPr/>
          <p:nvPr/>
        </p:nvSpPr>
        <p:spPr>
          <a:xfrm>
            <a:off x="10241280" y="594360"/>
            <a:ext cx="1371600" cy="219456"/>
          </a:xfrm>
          <a:prstGeom prst="roundRect">
            <a:avLst>
              <a:gd name="adj" fmla="val 15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ADAPTIVE RÉNYI DP</a:t>
            </a:r>
          </a:p>
        </p:txBody>
      </p:sp>
      <p:sp>
        <p:nvSpPr>
          <p:cNvPr id="7" name="TextBox 6"/>
          <p:cNvSpPr txBox="1"/>
          <p:nvPr/>
        </p:nvSpPr>
        <p:spPr>
          <a:xfrm>
            <a:off x="548640" y="1097280"/>
            <a:ext cx="5852160" cy="274320"/>
          </a:xfrm>
          <a:prstGeom prst="rect">
            <a:avLst/>
          </a:prstGeom>
          <a:noFill/>
        </p:spPr>
        <p:txBody>
          <a:bodyPr wrap="square" tIns="0" lIns="0" rIns="0" bIns="0">
            <a:spAutoFit/>
          </a:bodyPr>
          <a:lstStyle/>
          <a:p>
            <a:pPr>
              <a:spcBef>
                <a:spcPts val="0"/>
              </a:spcBef>
              <a:spcAft>
                <a:spcPts val="0"/>
              </a:spcAft>
              <a:defRPr sz="1300" b="1" i="0">
                <a:solidFill>
                  <a:srgbClr val="1B365D"/>
                </a:solidFill>
                <a:latin typeface="Calibri"/>
              </a:defRPr>
            </a:pPr>
            <a:r>
              <a:t>The 4-Pillar Hardened Tactical Pipeline</a:t>
            </a:r>
          </a:p>
        </p:txBody>
      </p:sp>
      <p:sp>
        <p:nvSpPr>
          <p:cNvPr id="8" name="Rounded Rectangle 7"/>
          <p:cNvSpPr/>
          <p:nvPr/>
        </p:nvSpPr>
        <p:spPr>
          <a:xfrm>
            <a:off x="548640" y="1417320"/>
            <a:ext cx="5852160" cy="960120"/>
          </a:xfrm>
          <a:prstGeom prst="roundRect">
            <a:avLst>
              <a:gd name="adj" fmla="val 4000"/>
            </a:avLst>
          </a:prstGeom>
          <a:solidFill>
            <a:srgbClr val="F1F5F9"/>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08760"/>
            <a:ext cx="292608" cy="292608"/>
          </a:xfrm>
          <a:prstGeom prst="ellipse">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defRPr sz="1100" b="1">
                <a:solidFill>
                  <a:srgbClr val="FFFFFF"/>
                </a:solidFill>
                <a:latin typeface="Calibri"/>
              </a:defRPr>
            </a:pPr>
            <a:r>
              <a:t>1</a:t>
            </a:r>
          </a:p>
        </p:txBody>
      </p:sp>
      <p:sp>
        <p:nvSpPr>
          <p:cNvPr id="10" name="TextBox 9"/>
          <p:cNvSpPr txBox="1"/>
          <p:nvPr/>
        </p:nvSpPr>
        <p:spPr>
          <a:xfrm>
            <a:off x="1005840" y="1490472"/>
            <a:ext cx="5285232" cy="813816"/>
          </a:xfrm>
          <a:prstGeom prst="rect">
            <a:avLst/>
          </a:prstGeom>
          <a:noFill/>
        </p:spPr>
        <p:txBody>
          <a:bodyPr wrap="square" tIns="0" lIns="0" rIns="0" bIns="0">
            <a:spAutoFit/>
          </a:bodyPr>
          <a:lstStyle/>
          <a:p>
            <a:pPr>
              <a:spcBef>
                <a:spcPts val="0"/>
              </a:spcBef>
              <a:spcAft>
                <a:spcPts val="200"/>
              </a:spcAft>
              <a:defRPr sz="1050" b="1" i="0">
                <a:solidFill>
                  <a:srgbClr val="1B365D"/>
                </a:solidFill>
                <a:latin typeface="Calibri"/>
              </a:defRPr>
            </a:pPr>
            <a:r>
              <a:t>Clustered Local Training (CFL on Sector Hubs)</a:t>
            </a:r>
          </a:p>
          <a:p>
            <a:pPr>
              <a:spcBef>
                <a:spcPts val="0"/>
              </a:spcBef>
              <a:spcAft>
                <a:spcPts val="0"/>
              </a:spcAft>
              <a:defRPr sz="850" b="0" i="0">
                <a:solidFill>
                  <a:srgbClr val="334155"/>
                </a:solidFill>
                <a:latin typeface="Calibri"/>
              </a:defRPr>
            </a:pPr>
            <a:r>
              <a:t>Partitions forward units into functional operational clusters (Artillery, Mobile Infantry, Drone Fleets) based on cosine trajectory alignment. Base elevation drag layers are shared globally, while specialized forecasting heads prevent Non-IID client drift across disparate units.</a:t>
            </a:r>
          </a:p>
        </p:txBody>
      </p:sp>
      <p:sp>
        <p:nvSpPr>
          <p:cNvPr id="11" name="Rounded Rectangle 10"/>
          <p:cNvSpPr/>
          <p:nvPr/>
        </p:nvSpPr>
        <p:spPr>
          <a:xfrm>
            <a:off x="548640" y="2468880"/>
            <a:ext cx="5852160" cy="960120"/>
          </a:xfrm>
          <a:prstGeom prst="roundRect">
            <a:avLst>
              <a:gd name="adj" fmla="val 4000"/>
            </a:avLst>
          </a:prstGeom>
          <a:solidFill>
            <a:srgbClr val="F1F5F9"/>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560320"/>
            <a:ext cx="292608" cy="292608"/>
          </a:xfrm>
          <a:prstGeom prst="ellipse">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defRPr sz="1100" b="1">
                <a:solidFill>
                  <a:srgbClr val="FFFFFF"/>
                </a:solidFill>
                <a:latin typeface="Calibri"/>
              </a:defRPr>
            </a:pPr>
            <a:r>
              <a:t>2</a:t>
            </a:r>
          </a:p>
        </p:txBody>
      </p:sp>
      <p:sp>
        <p:nvSpPr>
          <p:cNvPr id="13" name="TextBox 12"/>
          <p:cNvSpPr txBox="1"/>
          <p:nvPr/>
        </p:nvSpPr>
        <p:spPr>
          <a:xfrm>
            <a:off x="1005840" y="2542032"/>
            <a:ext cx="5285232" cy="813816"/>
          </a:xfrm>
          <a:prstGeom prst="rect">
            <a:avLst/>
          </a:prstGeom>
          <a:noFill/>
        </p:spPr>
        <p:txBody>
          <a:bodyPr wrap="square" tIns="0" lIns="0" rIns="0" bIns="0">
            <a:spAutoFit/>
          </a:bodyPr>
          <a:lstStyle/>
          <a:p>
            <a:pPr>
              <a:spcBef>
                <a:spcPts val="0"/>
              </a:spcBef>
              <a:spcAft>
                <a:spcPts val="200"/>
              </a:spcAft>
              <a:defRPr sz="1050" b="1" i="0">
                <a:solidFill>
                  <a:srgbClr val="1B365D"/>
                </a:solidFill>
                <a:latin typeface="Calibri"/>
              </a:defRPr>
            </a:pPr>
            <a:r>
              <a:t>Adaptive Rényi DP-SGD (Layer-Wise Sensitivity Clipping)</a:t>
            </a:r>
          </a:p>
          <a:p>
            <a:pPr>
              <a:spcBef>
                <a:spcPts val="0"/>
              </a:spcBef>
              <a:spcAft>
                <a:spcPts val="0"/>
              </a:spcAft>
              <a:defRPr sz="850" b="0" i="0">
                <a:solidFill>
                  <a:srgbClr val="334155"/>
                </a:solidFill>
                <a:latin typeface="Calibri"/>
              </a:defRPr>
            </a:pPr>
            <a:r>
              <a:t>Computes dynamic clipping threshold Ct per round based on median gradient L2-norms. Injects 1.4x calibrated noise into shallow coordinate layers and 0.8x into deep forecast layers (eps=1.85, delta=1e-5). Mathematically defeats recent generative style migration inversion attacks (GI-SMN).</a:t>
            </a:r>
          </a:p>
        </p:txBody>
      </p:sp>
      <p:sp>
        <p:nvSpPr>
          <p:cNvPr id="14" name="Rounded Rectangle 13"/>
          <p:cNvSpPr/>
          <p:nvPr/>
        </p:nvSpPr>
        <p:spPr>
          <a:xfrm>
            <a:off x="548640" y="3520440"/>
            <a:ext cx="5852160" cy="960120"/>
          </a:xfrm>
          <a:prstGeom prst="roundRect">
            <a:avLst>
              <a:gd name="adj" fmla="val 4000"/>
            </a:avLst>
          </a:prstGeom>
          <a:solidFill>
            <a:srgbClr val="F1F5F9"/>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611880"/>
            <a:ext cx="292608" cy="292608"/>
          </a:xfrm>
          <a:prstGeom prst="ellipse">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defRPr sz="1100" b="1">
                <a:solidFill>
                  <a:srgbClr val="FFFFFF"/>
                </a:solidFill>
                <a:latin typeface="Calibri"/>
              </a:defRPr>
            </a:pPr>
            <a:r>
              <a:t>3</a:t>
            </a:r>
          </a:p>
        </p:txBody>
      </p:sp>
      <p:sp>
        <p:nvSpPr>
          <p:cNvPr id="16" name="TextBox 15"/>
          <p:cNvSpPr txBox="1"/>
          <p:nvPr/>
        </p:nvSpPr>
        <p:spPr>
          <a:xfrm>
            <a:off x="1005840" y="3593592"/>
            <a:ext cx="5285232" cy="813816"/>
          </a:xfrm>
          <a:prstGeom prst="rect">
            <a:avLst/>
          </a:prstGeom>
          <a:noFill/>
        </p:spPr>
        <p:txBody>
          <a:bodyPr wrap="square" tIns="0" lIns="0" rIns="0" bIns="0">
            <a:spAutoFit/>
          </a:bodyPr>
          <a:lstStyle/>
          <a:p>
            <a:pPr>
              <a:spcBef>
                <a:spcPts val="0"/>
              </a:spcBef>
              <a:spcAft>
                <a:spcPts val="200"/>
              </a:spcAft>
              <a:defRPr sz="1050" b="1" i="0">
                <a:solidFill>
                  <a:srgbClr val="1B365D"/>
                </a:solidFill>
                <a:latin typeface="Calibri"/>
              </a:defRPr>
            </a:pPr>
            <a:r>
              <a:t>Top-k Sparsification + SecAgg+ Zero-Knowledge Masking</a:t>
            </a:r>
          </a:p>
          <a:p>
            <a:pPr>
              <a:spcBef>
                <a:spcPts val="0"/>
              </a:spcBef>
              <a:spcAft>
                <a:spcPts val="0"/>
              </a:spcAft>
              <a:defRPr sz="850" b="0" i="0">
                <a:solidFill>
                  <a:srgbClr val="334155"/>
                </a:solidFill>
                <a:latin typeface="Calibri"/>
              </a:defRPr>
            </a:pPr>
            <a:r>
              <a:t>Prunes 90% of insignificant weights (14.2 MB down to 1.42 MB for &lt;100ms radio burst). Neighbors exchange ephemeral Diffie-Hellman secret masks so intercepted packets appear as uniform random noise, preventing SIGINT traffic-correlation while masks cancel algebraically upon aggregation.</a:t>
            </a:r>
          </a:p>
        </p:txBody>
      </p:sp>
      <p:sp>
        <p:nvSpPr>
          <p:cNvPr id="17" name="Rounded Rectangle 16"/>
          <p:cNvSpPr/>
          <p:nvPr/>
        </p:nvSpPr>
        <p:spPr>
          <a:xfrm>
            <a:off x="548640" y="4572000"/>
            <a:ext cx="5852160" cy="960120"/>
          </a:xfrm>
          <a:prstGeom prst="roundRect">
            <a:avLst>
              <a:gd name="adj" fmla="val 4000"/>
            </a:avLst>
          </a:prstGeom>
          <a:solidFill>
            <a:srgbClr val="F1F5F9"/>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663440"/>
            <a:ext cx="292608" cy="292608"/>
          </a:xfrm>
          <a:prstGeom prst="ellipse">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defRPr sz="1100" b="1">
                <a:solidFill>
                  <a:srgbClr val="FFFFFF"/>
                </a:solidFill>
                <a:latin typeface="Calibri"/>
              </a:defRPr>
            </a:pPr>
            <a:r>
              <a:t>4</a:t>
            </a:r>
          </a:p>
        </p:txBody>
      </p:sp>
      <p:sp>
        <p:nvSpPr>
          <p:cNvPr id="19" name="TextBox 18"/>
          <p:cNvSpPr txBox="1"/>
          <p:nvPr/>
        </p:nvSpPr>
        <p:spPr>
          <a:xfrm>
            <a:off x="1005840" y="4645152"/>
            <a:ext cx="5285232" cy="813816"/>
          </a:xfrm>
          <a:prstGeom prst="rect">
            <a:avLst/>
          </a:prstGeom>
          <a:noFill/>
        </p:spPr>
        <p:txBody>
          <a:bodyPr wrap="square" tIns="0" lIns="0" rIns="0" bIns="0">
            <a:spAutoFit/>
          </a:bodyPr>
          <a:lstStyle/>
          <a:p>
            <a:pPr>
              <a:spcBef>
                <a:spcPts val="0"/>
              </a:spcBef>
              <a:spcAft>
                <a:spcPts val="200"/>
              </a:spcAft>
              <a:defRPr sz="1050" b="1" i="0">
                <a:solidFill>
                  <a:srgbClr val="1B365D"/>
                </a:solidFill>
                <a:latin typeface="Calibri"/>
              </a:defRPr>
            </a:pPr>
            <a:r>
              <a:t>Directional Cosine Momentum + Trimmed Consensus</a:t>
            </a:r>
          </a:p>
          <a:p>
            <a:pPr>
              <a:spcBef>
                <a:spcPts val="0"/>
              </a:spcBef>
              <a:spcAft>
                <a:spcPts val="0"/>
              </a:spcAft>
              <a:defRPr sz="850" b="0" i="0">
                <a:solidFill>
                  <a:srgbClr val="334155"/>
                </a:solidFill>
                <a:latin typeface="Calibri"/>
              </a:defRPr>
            </a:pPr>
            <a:r>
              <a:t>Rejects stealth backdoors (Layer Smoothing Attacks) from overrun nodes. Validates update direction against multi-round historical momentum (Sim &gt;= 0.25) before Coordinate-wise trimming, preserving 100% of honest artillery consumption surges while filtering 98.5% of malicious backdoor updates.</a:t>
            </a:r>
          </a:p>
        </p:txBody>
      </p:sp>
      <p:sp>
        <p:nvSpPr>
          <p:cNvPr id="20" name="TextBox 19"/>
          <p:cNvSpPr txBox="1"/>
          <p:nvPr/>
        </p:nvSpPr>
        <p:spPr>
          <a:xfrm>
            <a:off x="6629400" y="1097280"/>
            <a:ext cx="5013655" cy="274320"/>
          </a:xfrm>
          <a:prstGeom prst="rect">
            <a:avLst/>
          </a:prstGeom>
          <a:noFill/>
        </p:spPr>
        <p:txBody>
          <a:bodyPr wrap="square" tIns="0" lIns="0" rIns="0" bIns="0">
            <a:spAutoFit/>
          </a:bodyPr>
          <a:lstStyle/>
          <a:p>
            <a:pPr>
              <a:spcBef>
                <a:spcPts val="0"/>
              </a:spcBef>
              <a:spcAft>
                <a:spcPts val="0"/>
              </a:spcAft>
              <a:defRPr sz="1300" b="1" i="0">
                <a:solidFill>
                  <a:srgbClr val="1B365D"/>
                </a:solidFill>
                <a:latin typeface="Calibri"/>
              </a:defRPr>
            </a:pPr>
            <a:r>
              <a:t>Combat Readiness &amp; Threat Resilience</a:t>
            </a:r>
          </a:p>
          <a:p>
            <a:pPr>
              <a:spcBef>
                <a:spcPts val="0"/>
              </a:spcBef>
              <a:spcAft>
                <a:spcPts val="0"/>
              </a:spcAft>
              <a:defRPr sz="900" b="0" i="1">
                <a:solidFill>
                  <a:srgbClr val="64748B"/>
                </a:solidFill>
                <a:latin typeface="Calibri"/>
              </a:defRPr>
            </a:pPr>
            <a:r>
              <a:t>(5-Sector Ladakh Topology Simulation)</a:t>
            </a:r>
          </a:p>
        </p:txBody>
      </p:sp>
      <p:sp>
        <p:nvSpPr>
          <p:cNvPr id="21" name="Rounded Rectangle 20"/>
          <p:cNvSpPr/>
          <p:nvPr/>
        </p:nvSpPr>
        <p:spPr>
          <a:xfrm>
            <a:off x="6629400" y="1554480"/>
            <a:ext cx="5013655" cy="388620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66560" y="2245868"/>
            <a:ext cx="47393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1691640"/>
            <a:ext cx="4739335" cy="541528"/>
          </a:xfrm>
          <a:prstGeom prst="rect">
            <a:avLst/>
          </a:prstGeom>
          <a:noFill/>
        </p:spPr>
        <p:txBody>
          <a:bodyPr wrap="square" tIns="0" lIns="0" rIns="0" bIns="0">
            <a:spAutoFit/>
          </a:bodyPr>
          <a:lstStyle/>
          <a:p>
            <a:pPr>
              <a:spcAft>
                <a:spcPts val="100"/>
              </a:spcAft>
            </a:pPr>
            <a:r>
              <a:rPr sz="900" b="0">
                <a:solidFill>
                  <a:srgbClr val="64748B"/>
                </a:solidFill>
                <a:latin typeface="Calibri"/>
              </a:rPr>
              <a:t>Lead Time Accuracy (MAE): </a:t>
            </a:r>
            <a:r>
              <a:rPr sz="1050" b="1">
                <a:solidFill>
                  <a:srgbClr val="16A34A"/>
                </a:solidFill>
                <a:latin typeface="Calibri"/>
              </a:rPr>
              <a:t>1.38 hours</a:t>
            </a:r>
          </a:p>
          <a:p>
            <a:pPr>
              <a:spcBef>
                <a:spcPts val="0"/>
              </a:spcBef>
              <a:spcAft>
                <a:spcPts val="0"/>
              </a:spcAft>
              <a:defRPr sz="800" b="0" i="0">
                <a:solidFill>
                  <a:srgbClr val="334155"/>
                </a:solidFill>
                <a:latin typeface="Calibri"/>
              </a:defRPr>
            </a:pPr>
            <a:r>
              <a:t>Within 11 minutes of centralized cloud, driven by Clustered FL mitigating Non-IID drift across military units.</a:t>
            </a:r>
          </a:p>
        </p:txBody>
      </p:sp>
      <p:sp>
        <p:nvSpPr>
          <p:cNvPr id="24" name="Rectangle 23"/>
          <p:cNvSpPr/>
          <p:nvPr/>
        </p:nvSpPr>
        <p:spPr>
          <a:xfrm>
            <a:off x="6766560" y="2995676"/>
            <a:ext cx="47393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0" y="2441448"/>
            <a:ext cx="4739335" cy="541528"/>
          </a:xfrm>
          <a:prstGeom prst="rect">
            <a:avLst/>
          </a:prstGeom>
          <a:noFill/>
        </p:spPr>
        <p:txBody>
          <a:bodyPr wrap="square" tIns="0" lIns="0" rIns="0" bIns="0">
            <a:spAutoFit/>
          </a:bodyPr>
          <a:lstStyle/>
          <a:p>
            <a:pPr>
              <a:spcAft>
                <a:spcPts val="100"/>
              </a:spcAft>
            </a:pPr>
            <a:r>
              <a:rPr sz="900" b="0">
                <a:solidFill>
                  <a:srgbClr val="64748B"/>
                </a:solidFill>
                <a:latin typeface="Calibri"/>
              </a:rPr>
              <a:t>Stockout Probability: </a:t>
            </a:r>
            <a:r>
              <a:rPr sz="1050" b="1">
                <a:solidFill>
                  <a:srgbClr val="16A34A"/>
                </a:solidFill>
                <a:latin typeface="Calibri"/>
              </a:rPr>
              <a:t>5.1% (down from 18.2%)</a:t>
            </a:r>
          </a:p>
          <a:p>
            <a:pPr>
              <a:spcBef>
                <a:spcPts val="0"/>
              </a:spcBef>
              <a:spcAft>
                <a:spcPts val="0"/>
              </a:spcAft>
              <a:defRPr sz="800" b="0" i="0">
                <a:solidFill>
                  <a:srgbClr val="334155"/>
                </a:solidFill>
                <a:latin typeface="Calibri"/>
              </a:defRPr>
            </a:pPr>
            <a:r>
              <a:t>Critical ammunition stockout drops from 18.2% (isolated outposts) to 5.1% with collaborative FL.</a:t>
            </a:r>
          </a:p>
        </p:txBody>
      </p:sp>
      <p:sp>
        <p:nvSpPr>
          <p:cNvPr id="26" name="Rectangle 25"/>
          <p:cNvSpPr/>
          <p:nvPr/>
        </p:nvSpPr>
        <p:spPr>
          <a:xfrm>
            <a:off x="6766560" y="3745484"/>
            <a:ext cx="47393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3191256"/>
            <a:ext cx="4739335" cy="541528"/>
          </a:xfrm>
          <a:prstGeom prst="rect">
            <a:avLst/>
          </a:prstGeom>
          <a:noFill/>
        </p:spPr>
        <p:txBody>
          <a:bodyPr wrap="square" tIns="0" lIns="0" rIns="0" bIns="0">
            <a:spAutoFit/>
          </a:bodyPr>
          <a:lstStyle/>
          <a:p>
            <a:pPr>
              <a:spcAft>
                <a:spcPts val="100"/>
              </a:spcAft>
            </a:pPr>
            <a:r>
              <a:rPr sz="900" b="0">
                <a:solidFill>
                  <a:srgbClr val="64748B"/>
                </a:solidFill>
                <a:latin typeface="Calibri"/>
              </a:rPr>
              <a:t>Drone Flight Survivability: </a:t>
            </a:r>
            <a:r>
              <a:rPr sz="1050" b="1">
                <a:solidFill>
                  <a:srgbClr val="16A34A"/>
                </a:solidFill>
                <a:latin typeface="Calibri"/>
              </a:rPr>
              <a:t>91.4%</a:t>
            </a:r>
          </a:p>
          <a:p>
            <a:pPr>
              <a:spcBef>
                <a:spcPts val="0"/>
              </a:spcBef>
              <a:spcAft>
                <a:spcPts val="0"/>
              </a:spcAft>
              <a:defRPr sz="800" b="0" i="0">
                <a:solidFill>
                  <a:srgbClr val="334155"/>
                </a:solidFill>
                <a:latin typeface="Calibri"/>
              </a:defRPr>
            </a:pPr>
            <a:r>
              <a:t>Empirical -40% thermal battery penalty curve at -30 deg C routes flights safely through radar-masked valleys.</a:t>
            </a:r>
          </a:p>
        </p:txBody>
      </p:sp>
      <p:sp>
        <p:nvSpPr>
          <p:cNvPr id="28" name="Rectangle 27"/>
          <p:cNvSpPr/>
          <p:nvPr/>
        </p:nvSpPr>
        <p:spPr>
          <a:xfrm>
            <a:off x="6766560" y="4495292"/>
            <a:ext cx="47393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3941064"/>
            <a:ext cx="4739335" cy="541528"/>
          </a:xfrm>
          <a:prstGeom prst="rect">
            <a:avLst/>
          </a:prstGeom>
          <a:noFill/>
        </p:spPr>
        <p:txBody>
          <a:bodyPr wrap="square" tIns="0" lIns="0" rIns="0" bIns="0">
            <a:spAutoFit/>
          </a:bodyPr>
          <a:lstStyle/>
          <a:p>
            <a:pPr>
              <a:spcAft>
                <a:spcPts val="100"/>
              </a:spcAft>
            </a:pPr>
            <a:r>
              <a:rPr sz="900" b="0">
                <a:solidFill>
                  <a:srgbClr val="64748B"/>
                </a:solidFill>
                <a:latin typeface="Calibri"/>
              </a:rPr>
              <a:t>Generative Inversion Defense: </a:t>
            </a:r>
            <a:r>
              <a:rPr sz="1050" b="1">
                <a:solidFill>
                  <a:srgbClr val="14B8A6"/>
                </a:solidFill>
                <a:latin typeface="Calibri"/>
              </a:rPr>
              <a:t>99.9% (MSE &gt; 0.82)</a:t>
            </a:r>
          </a:p>
          <a:p>
            <a:pPr>
              <a:spcBef>
                <a:spcPts val="0"/>
              </a:spcBef>
              <a:spcAft>
                <a:spcPts val="0"/>
              </a:spcAft>
              <a:defRPr sz="800" b="0" i="0">
                <a:solidFill>
                  <a:srgbClr val="334155"/>
                </a:solidFill>
                <a:latin typeface="Calibri"/>
              </a:defRPr>
            </a:pPr>
            <a:r>
              <a:t>Layer-wise Adaptive Rényi DP-SGD + SecAgg+ zero-knowledge masking defeats generative style-transfer attacks.</a:t>
            </a:r>
          </a:p>
        </p:txBody>
      </p:sp>
      <p:sp>
        <p:nvSpPr>
          <p:cNvPr id="30" name="Rectangle 29"/>
          <p:cNvSpPr/>
          <p:nvPr/>
        </p:nvSpPr>
        <p:spPr>
          <a:xfrm>
            <a:off x="6766560" y="5245100"/>
            <a:ext cx="47393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4690872"/>
            <a:ext cx="4739335" cy="541528"/>
          </a:xfrm>
          <a:prstGeom prst="rect">
            <a:avLst/>
          </a:prstGeom>
          <a:noFill/>
        </p:spPr>
        <p:txBody>
          <a:bodyPr wrap="square" tIns="0" lIns="0" rIns="0" bIns="0">
            <a:spAutoFit/>
          </a:bodyPr>
          <a:lstStyle/>
          <a:p>
            <a:pPr>
              <a:spcAft>
                <a:spcPts val="100"/>
              </a:spcAft>
            </a:pPr>
            <a:r>
              <a:rPr sz="900" b="0">
                <a:solidFill>
                  <a:srgbClr val="64748B"/>
                </a:solidFill>
                <a:latin typeface="Calibri"/>
              </a:rPr>
              <a:t>Stealth Backdoor Rejection: </a:t>
            </a:r>
            <a:r>
              <a:rPr sz="1050" b="1">
                <a:solidFill>
                  <a:srgbClr val="14B8A6"/>
                </a:solidFill>
                <a:latin typeface="Calibri"/>
              </a:rPr>
              <a:t>98.5%</a:t>
            </a:r>
          </a:p>
          <a:p>
            <a:pPr>
              <a:spcBef>
                <a:spcPts val="0"/>
              </a:spcBef>
              <a:spcAft>
                <a:spcPts val="0"/>
              </a:spcAft>
              <a:defRPr sz="800" b="0" i="0">
                <a:solidFill>
                  <a:srgbClr val="334155"/>
                </a:solidFill>
                <a:latin typeface="Calibri"/>
              </a:defRPr>
            </a:pPr>
            <a:r>
              <a:t>Directional Cosine Momentum validation successfully filters Layer Smoothing Attacks (LSA) from captured nodes.</a:t>
            </a:r>
          </a:p>
        </p:txBody>
      </p:sp>
      <p:sp>
        <p:nvSpPr>
          <p:cNvPr id="32" name="Rounded Rectangle 31"/>
          <p:cNvSpPr/>
          <p:nvPr/>
        </p:nvSpPr>
        <p:spPr>
          <a:xfrm>
            <a:off x="548640" y="5623560"/>
            <a:ext cx="11094415" cy="731520"/>
          </a:xfrm>
          <a:prstGeom prst="roundRect">
            <a:avLst>
              <a:gd name="adj" fmla="val 4000"/>
            </a:avLst>
          </a:prstGeom>
          <a:solidFill>
            <a:srgbClr val="FEF9EB"/>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 y="5733288"/>
            <a:ext cx="1097280" cy="201168"/>
          </a:xfrm>
          <a:prstGeom prst="roundRect">
            <a:avLst>
              <a:gd name="adj" fmla="val 15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PRIVACY TAX</a:t>
            </a:r>
          </a:p>
        </p:txBody>
      </p:sp>
      <p:sp>
        <p:nvSpPr>
          <p:cNvPr id="34" name="TextBox 33"/>
          <p:cNvSpPr txBox="1"/>
          <p:nvPr/>
        </p:nvSpPr>
        <p:spPr>
          <a:xfrm>
            <a:off x="685800" y="5971032"/>
            <a:ext cx="10820095" cy="365760"/>
          </a:xfrm>
          <a:prstGeom prst="rect">
            <a:avLst/>
          </a:prstGeom>
          <a:noFill/>
        </p:spPr>
        <p:txBody>
          <a:bodyPr wrap="square" tIns="0" lIns="0" rIns="0" bIns="0">
            <a:spAutoFit/>
          </a:bodyPr>
          <a:lstStyle/>
          <a:p>
            <a:pPr>
              <a:spcBef>
                <a:spcPts val="0"/>
              </a:spcBef>
              <a:spcAft>
                <a:spcPts val="0"/>
              </a:spcAft>
              <a:defRPr sz="900" b="0" i="0">
                <a:solidFill>
                  <a:srgbClr val="713F12"/>
                </a:solidFill>
                <a:latin typeface="Calibri"/>
              </a:defRPr>
            </a:pPr>
            <a:r>
              <a:t>The Combat Engineering Trade-off: Adding Differential Privacy noise increases lead-time prediction error by approximately 25 minutes (from 1.20 hours to 1.62 hours). In military operations, this small buffer is easily absorbed by reserve ammunition and fuel stocks, in exchange for 99.9% defense against enemy electronic reconstruction and missile target acquisition.</a:t>
            </a:r>
          </a:p>
        </p:txBody>
      </p:sp>
      <p:sp>
        <p:nvSpPr>
          <p:cNvPr id="35" name="TextBox 34"/>
          <p:cNvSpPr txBox="1"/>
          <p:nvPr/>
        </p:nvSpPr>
        <p:spPr>
          <a:xfrm>
            <a:off x="548640" y="6446520"/>
            <a:ext cx="11094415" cy="164592"/>
          </a:xfrm>
          <a:prstGeom prst="rect">
            <a:avLst/>
          </a:prstGeom>
          <a:noFill/>
        </p:spPr>
        <p:txBody>
          <a:bodyPr wrap="square" tIns="0" lIns="0" rIns="0" bIns="0">
            <a:spAutoFit/>
          </a:bodyPr>
          <a:lstStyle/>
          <a:p>
            <a:pPr algn="ctr">
              <a:spcBef>
                <a:spcPts val="0"/>
              </a:spcBef>
              <a:spcAft>
                <a:spcPts val="0"/>
              </a:spcAft>
              <a:defRPr sz="750" b="0" i="0">
                <a:solidFill>
                  <a:srgbClr val="64748B"/>
                </a:solidFill>
                <a:latin typeface="Calibri"/>
              </a:defRPr>
            </a:pPr>
            <a:r>
              <a:t>Tech Stack: PyTorch + Opacus + Flower (flwr) + OSMnx | Hardware: NVIDIA Jetson AGX | Radio: Tactical VHF/UHF MANET Mesh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601200" cy="457200"/>
          </a:xfrm>
          <a:prstGeom prst="rect">
            <a:avLst/>
          </a:prstGeom>
          <a:noFill/>
        </p:spPr>
        <p:txBody>
          <a:bodyPr wrap="square" tIns="0" lIns="0" rIns="0" bIns="0">
            <a:spAutoFit/>
          </a:bodyPr>
          <a:lstStyle/>
          <a:p>
            <a:pPr>
              <a:spcBef>
                <a:spcPts val="0"/>
              </a:spcBef>
              <a:spcAft>
                <a:spcPts val="0"/>
              </a:spcAft>
              <a:defRPr sz="1900" b="1" i="0">
                <a:solidFill>
                  <a:srgbClr val="1B365D"/>
                </a:solidFill>
                <a:latin typeface="Calibri"/>
              </a:defRPr>
            </a:pPr>
            <a:r>
              <a:t>Recent Scientific Literature: Foundations of Our Architecture</a:t>
            </a:r>
          </a:p>
        </p:txBody>
      </p:sp>
      <p:sp>
        <p:nvSpPr>
          <p:cNvPr id="4" name="TextBox 3"/>
          <p:cNvSpPr txBox="1"/>
          <p:nvPr/>
        </p:nvSpPr>
        <p:spPr>
          <a:xfrm>
            <a:off x="548640" y="713232"/>
            <a:ext cx="9601200" cy="274320"/>
          </a:xfrm>
          <a:prstGeom prst="rect">
            <a:avLst/>
          </a:prstGeom>
          <a:noFill/>
        </p:spPr>
        <p:txBody>
          <a:bodyPr wrap="square" tIns="0" lIns="0" rIns="0" bIns="0">
            <a:spAutoFit/>
          </a:bodyPr>
          <a:lstStyle/>
          <a:p>
            <a:pPr>
              <a:spcBef>
                <a:spcPts val="0"/>
              </a:spcBef>
              <a:spcAft>
                <a:spcPts val="0"/>
              </a:spcAft>
              <a:defRPr sz="1100" b="0" i="1">
                <a:solidFill>
                  <a:srgbClr val="64748B"/>
                </a:solidFill>
                <a:latin typeface="Calibri"/>
              </a:defRPr>
            </a:pPr>
            <a:r>
              <a:t>High-Impact Research Papers (2022 to 2024) from IEEE, ACM, and Military Research Laboratories</a:t>
            </a:r>
          </a:p>
        </p:txBody>
      </p:sp>
      <p:sp>
        <p:nvSpPr>
          <p:cNvPr id="5" name="Rounded Rectangle 4"/>
          <p:cNvSpPr/>
          <p:nvPr/>
        </p:nvSpPr>
        <p:spPr>
          <a:xfrm>
            <a:off x="10241280" y="320040"/>
            <a:ext cx="1371600" cy="219456"/>
          </a:xfrm>
          <a:prstGeom prst="roundRect">
            <a:avLst>
              <a:gd name="adj" fmla="val 15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PEER REVIEWED</a:t>
            </a:r>
          </a:p>
        </p:txBody>
      </p:sp>
      <p:sp>
        <p:nvSpPr>
          <p:cNvPr id="6" name="Rounded Rectangle 5"/>
          <p:cNvSpPr/>
          <p:nvPr/>
        </p:nvSpPr>
        <p:spPr>
          <a:xfrm>
            <a:off x="10241280" y="594360"/>
            <a:ext cx="1371600" cy="219456"/>
          </a:xfrm>
          <a:prstGeom prst="roundRect">
            <a:avLst>
              <a:gd name="adj" fmla="val 15000"/>
            </a:avLst>
          </a:prstGeom>
          <a:solidFill>
            <a:srgbClr val="155E75"/>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IEEE / ACM</a:t>
            </a:r>
          </a:p>
        </p:txBody>
      </p:sp>
      <p:sp>
        <p:nvSpPr>
          <p:cNvPr id="7" name="Rounded Rectangle 6"/>
          <p:cNvSpPr/>
          <p:nvPr/>
        </p:nvSpPr>
        <p:spPr>
          <a:xfrm>
            <a:off x="548640" y="109728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207008"/>
            <a:ext cx="1005840" cy="182880"/>
          </a:xfrm>
          <a:prstGeom prst="roundRect">
            <a:avLst>
              <a:gd name="adj" fmla="val 15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BASELINE</a:t>
            </a:r>
          </a:p>
        </p:txBody>
      </p:sp>
      <p:sp>
        <p:nvSpPr>
          <p:cNvPr id="9" name="TextBox 8"/>
          <p:cNvSpPr txBox="1"/>
          <p:nvPr/>
        </p:nvSpPr>
        <p:spPr>
          <a:xfrm>
            <a:off x="685800" y="144475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Tactical Edge FL Baseline (2022)</a:t>
            </a:r>
          </a:p>
          <a:p>
            <a:pPr>
              <a:spcAft>
                <a:spcPts val="200"/>
              </a:spcAft>
            </a:pPr>
            <a:r>
              <a:rPr sz="900" b="1">
                <a:solidFill>
                  <a:srgbClr val="64748B"/>
                </a:solidFill>
                <a:latin typeface="Calibri"/>
              </a:rPr>
              <a:t>Paper: </a:t>
            </a:r>
            <a:r>
              <a:rPr sz="900" i="1">
                <a:solidFill>
                  <a:srgbClr val="334155"/>
                </a:solidFill>
                <a:latin typeface="Calibri"/>
              </a:rPr>
              <a:t>Federated Learning at the Tactical Edge: Challenges, Key Techniques, and Future Directions</a:t>
            </a:r>
          </a:p>
          <a:p>
            <a:pPr>
              <a:spcAft>
                <a:spcPts val="200"/>
              </a:spcAft>
            </a:pPr>
            <a:r>
              <a:rPr sz="850" b="1">
                <a:solidFill>
                  <a:srgbClr val="64748B"/>
                </a:solidFill>
                <a:latin typeface="Calibri"/>
              </a:rPr>
              <a:t>Authors: </a:t>
            </a:r>
            <a:r>
              <a:rPr sz="850">
                <a:solidFill>
                  <a:srgbClr val="334155"/>
                </a:solidFill>
                <a:latin typeface="Calibri"/>
              </a:rPr>
              <a:t>S. Wang, T. Tuor, T. Salonidis (IBM T.J. Watson and US Army Research Laboratory)</a:t>
            </a:r>
          </a:p>
          <a:p>
            <a:pPr>
              <a:spcAft>
                <a:spcPts val="300"/>
              </a:spcAft>
            </a:pPr>
            <a:r>
              <a:rPr sz="850" b="1">
                <a:solidFill>
                  <a:srgbClr val="64748B"/>
                </a:solidFill>
                <a:latin typeface="Calibri"/>
              </a:rPr>
              <a:t>Venue: </a:t>
            </a:r>
            <a:r>
              <a:rPr sz="850">
                <a:solidFill>
                  <a:srgbClr val="334155"/>
                </a:solidFill>
                <a:latin typeface="Calibri"/>
              </a:rPr>
              <a:t>IEEE Communications Magazine, Vol. 60, No. 4, pp. 60-66, 2022</a:t>
            </a:r>
          </a:p>
          <a:p>
            <a:pPr>
              <a:spcAft>
                <a:spcPts val="300"/>
              </a:spcAft>
            </a:pPr>
            <a:r>
              <a:rPr sz="850" b="1">
                <a:solidFill>
                  <a:srgbClr val="1B365D"/>
                </a:solidFill>
                <a:latin typeface="Calibri"/>
              </a:rPr>
              <a:t>Tactical Focus: </a:t>
            </a:r>
            <a:r>
              <a:rPr sz="850">
                <a:solidFill>
                  <a:srgbClr val="334155"/>
                </a:solidFill>
                <a:latin typeface="Calibri"/>
              </a:rPr>
              <a:t>Resource-constrained tactical edge devices operating over intermittent wireless battlefield networks. Adaptive control algorithm that dynamically determines local update frequency vs global communication frequency to minimize radio power burn.</a:t>
            </a:r>
          </a:p>
          <a:p>
            <a:pPr>
              <a:spcAft>
                <a:spcPts val="0"/>
              </a:spcAft>
            </a:pPr>
            <a:r>
              <a:rPr sz="850" b="1">
                <a:solidFill>
                  <a:srgbClr val="16A34A"/>
                </a:solidFill>
                <a:latin typeface="Calibri"/>
              </a:rPr>
              <a:t>Our PS Takeaway: </a:t>
            </a:r>
            <a:r>
              <a:rPr sz="850" b="0">
                <a:solidFill>
                  <a:srgbClr val="334155"/>
                </a:solidFill>
                <a:latin typeface="Calibri"/>
              </a:rPr>
              <a:t>Provides our foundational baseline for running local neural updates over tactical radio without cloud connectivity. Establishes the theoretical framework for edge FL on MANET.</a:t>
            </a:r>
          </a:p>
        </p:txBody>
      </p:sp>
      <p:sp>
        <p:nvSpPr>
          <p:cNvPr id="10" name="Rounded Rectangle 9"/>
          <p:cNvSpPr/>
          <p:nvPr/>
        </p:nvSpPr>
        <p:spPr>
          <a:xfrm>
            <a:off x="6187287" y="109728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4447" y="1207008"/>
            <a:ext cx="1005840" cy="182880"/>
          </a:xfrm>
          <a:prstGeom prst="roundRect">
            <a:avLst>
              <a:gd name="adj" fmla="val 15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P2P GOSSIP</a:t>
            </a:r>
          </a:p>
        </p:txBody>
      </p:sp>
      <p:sp>
        <p:nvSpPr>
          <p:cNvPr id="12" name="TextBox 11"/>
          <p:cNvSpPr txBox="1"/>
          <p:nvPr/>
        </p:nvSpPr>
        <p:spPr>
          <a:xfrm>
            <a:off x="6324447" y="144475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Asynchronous P2P Gossip FL (2023)</a:t>
            </a:r>
          </a:p>
          <a:p>
            <a:pPr>
              <a:spcAft>
                <a:spcPts val="200"/>
              </a:spcAft>
            </a:pPr>
            <a:r>
              <a:rPr sz="900" b="1">
                <a:solidFill>
                  <a:srgbClr val="64748B"/>
                </a:solidFill>
                <a:latin typeface="Calibri"/>
              </a:rPr>
              <a:t>Paper: </a:t>
            </a:r>
            <a:r>
              <a:rPr sz="900" i="1">
                <a:solidFill>
                  <a:srgbClr val="334155"/>
                </a:solidFill>
                <a:latin typeface="Calibri"/>
              </a:rPr>
              <a:t>Asynchronous Decentralized Federated Learning for Contested Tactical Environments</a:t>
            </a:r>
          </a:p>
          <a:p>
            <a:pPr>
              <a:spcAft>
                <a:spcPts val="200"/>
              </a:spcAft>
            </a:pPr>
            <a:r>
              <a:rPr sz="850" b="1">
                <a:solidFill>
                  <a:srgbClr val="64748B"/>
                </a:solidFill>
                <a:latin typeface="Calibri"/>
              </a:rPr>
              <a:t>Authors: </a:t>
            </a:r>
            <a:r>
              <a:rPr sz="850">
                <a:solidFill>
                  <a:srgbClr val="334155"/>
                </a:solidFill>
                <a:latin typeface="Calibri"/>
              </a:rPr>
              <a:t>M. Chen, H. V. Poor, W. Saad (Princeton University and Virginia Tech)</a:t>
            </a:r>
          </a:p>
          <a:p>
            <a:pPr>
              <a:spcAft>
                <a:spcPts val="300"/>
              </a:spcAft>
            </a:pPr>
            <a:r>
              <a:rPr sz="850" b="1">
                <a:solidFill>
                  <a:srgbClr val="64748B"/>
                </a:solidFill>
                <a:latin typeface="Calibri"/>
              </a:rPr>
              <a:t>Venue: </a:t>
            </a:r>
            <a:r>
              <a:rPr sz="850">
                <a:solidFill>
                  <a:srgbClr val="334155"/>
                </a:solidFill>
                <a:latin typeface="Calibri"/>
              </a:rPr>
              <a:t>IEEE Transactions on Wireless Communications, Vol. 22, No. 6, 2023</a:t>
            </a:r>
          </a:p>
          <a:p>
            <a:pPr>
              <a:spcAft>
                <a:spcPts val="300"/>
              </a:spcAft>
            </a:pPr>
            <a:r>
              <a:rPr sz="850" b="1">
                <a:solidFill>
                  <a:srgbClr val="1B365D"/>
                </a:solidFill>
                <a:latin typeface="Calibri"/>
              </a:rPr>
              <a:t>Tactical Focus: </a:t>
            </a:r>
            <a:r>
              <a:rPr sz="850">
                <a:solidFill>
                  <a:srgbClr val="334155"/>
                </a:solidFill>
                <a:latin typeface="Calibri"/>
              </a:rPr>
              <a:t>Collaborative model training when communications are intermittently severed by enemy electronic warfare jamming. Gossip-based parameter exchange where nodes update shared models opportunistically when within direct radio range.</a:t>
            </a:r>
          </a:p>
          <a:p>
            <a:pPr>
              <a:spcAft>
                <a:spcPts val="0"/>
              </a:spcAft>
            </a:pPr>
            <a:r>
              <a:rPr sz="850" b="1">
                <a:solidFill>
                  <a:srgbClr val="16A34A"/>
                </a:solidFill>
                <a:latin typeface="Calibri"/>
              </a:rPr>
              <a:t>Our PS Takeaway: </a:t>
            </a:r>
            <a:r>
              <a:rPr sz="850" b="0">
                <a:solidFill>
                  <a:srgbClr val="334155"/>
                </a:solidFill>
                <a:latin typeface="Calibri"/>
              </a:rPr>
              <a:t>Proves that our 5 forward sector depots do not need a central server and can learn asynchronously peer-to-peer during active enemy jamming.</a:t>
            </a:r>
          </a:p>
        </p:txBody>
      </p:sp>
      <p:sp>
        <p:nvSpPr>
          <p:cNvPr id="13" name="Rounded Rectangle 12"/>
          <p:cNvSpPr/>
          <p:nvPr/>
        </p:nvSpPr>
        <p:spPr>
          <a:xfrm>
            <a:off x="548640" y="388620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3995928"/>
            <a:ext cx="1005840" cy="182880"/>
          </a:xfrm>
          <a:prstGeom prst="roundRect">
            <a:avLst>
              <a:gd name="adj" fmla="val 15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BYZANTINE</a:t>
            </a:r>
          </a:p>
        </p:txBody>
      </p:sp>
      <p:sp>
        <p:nvSpPr>
          <p:cNvPr id="15" name="TextBox 14"/>
          <p:cNvSpPr txBox="1"/>
          <p:nvPr/>
        </p:nvSpPr>
        <p:spPr>
          <a:xfrm>
            <a:off x="685800" y="423367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Byzantine Anti-Sabotage (2024)</a:t>
            </a:r>
          </a:p>
          <a:p>
            <a:pPr>
              <a:spcAft>
                <a:spcPts val="200"/>
              </a:spcAft>
            </a:pPr>
            <a:r>
              <a:rPr sz="900" b="1">
                <a:solidFill>
                  <a:srgbClr val="64748B"/>
                </a:solidFill>
                <a:latin typeface="Calibri"/>
              </a:rPr>
              <a:t>Paper: </a:t>
            </a:r>
            <a:r>
              <a:rPr sz="900" i="1">
                <a:solidFill>
                  <a:srgbClr val="334155"/>
                </a:solidFill>
                <a:latin typeface="Calibri"/>
              </a:rPr>
              <a:t>Byzantine-Robust Federated Learning in Multi-UAV Swarm Logistics</a:t>
            </a:r>
          </a:p>
          <a:p>
            <a:pPr>
              <a:spcAft>
                <a:spcPts val="200"/>
              </a:spcAft>
            </a:pPr>
            <a:r>
              <a:rPr sz="850" b="1">
                <a:solidFill>
                  <a:srgbClr val="64748B"/>
                </a:solidFill>
                <a:latin typeface="Calibri"/>
              </a:rPr>
              <a:t>Authors: </a:t>
            </a:r>
            <a:r>
              <a:rPr sz="850">
                <a:solidFill>
                  <a:srgbClr val="334155"/>
                </a:solidFill>
                <a:latin typeface="Calibri"/>
              </a:rPr>
              <a:t>Y. Zhang, C. Li, et al. (IEEE Senior Members)</a:t>
            </a:r>
          </a:p>
          <a:p>
            <a:pPr>
              <a:spcAft>
                <a:spcPts val="300"/>
              </a:spcAft>
            </a:pPr>
            <a:r>
              <a:rPr sz="850" b="1">
                <a:solidFill>
                  <a:srgbClr val="64748B"/>
                </a:solidFill>
                <a:latin typeface="Calibri"/>
              </a:rPr>
              <a:t>Venue: </a:t>
            </a:r>
            <a:r>
              <a:rPr sz="850">
                <a:solidFill>
                  <a:srgbClr val="334155"/>
                </a:solidFill>
                <a:latin typeface="Calibri"/>
              </a:rPr>
              <a:t>IEEE Internet of Things Journal, Vol. 11, No. 3, pp. 4112-4125, 2024</a:t>
            </a:r>
          </a:p>
          <a:p>
            <a:pPr>
              <a:spcAft>
                <a:spcPts val="300"/>
              </a:spcAft>
            </a:pPr>
            <a:r>
              <a:rPr sz="850" b="1">
                <a:solidFill>
                  <a:srgbClr val="1B365D"/>
                </a:solidFill>
                <a:latin typeface="Calibri"/>
              </a:rPr>
              <a:t>Tactical Focus: </a:t>
            </a:r>
            <a:r>
              <a:rPr sz="850">
                <a:solidFill>
                  <a:srgbClr val="334155"/>
                </a:solidFill>
                <a:latin typeface="Calibri"/>
              </a:rPr>
              <a:t>Autonomous drone swarm logistics where rogue or enemy-captured drones attempt to poison the collective flight routing model. Coordinate-wise Trimmed Mean and Krum aggregation filter statistical outlier gradients.</a:t>
            </a:r>
          </a:p>
          <a:p>
            <a:pPr>
              <a:spcAft>
                <a:spcPts val="0"/>
              </a:spcAft>
            </a:pPr>
            <a:r>
              <a:rPr sz="850" b="1">
                <a:solidFill>
                  <a:srgbClr val="16A34A"/>
                </a:solidFill>
                <a:latin typeface="Calibri"/>
              </a:rPr>
              <a:t>Our PS Takeaway: </a:t>
            </a:r>
            <a:r>
              <a:rPr sz="850" b="0">
                <a:solidFill>
                  <a:srgbClr val="334155"/>
                </a:solidFill>
                <a:latin typeface="Calibri"/>
              </a:rPr>
              <a:t>Implements our anti-sabotage shield: protects the tactical drone resupply network against adversarial data poisoning (98.5% rejection) if a forward outpost is overrun.</a:t>
            </a:r>
          </a:p>
        </p:txBody>
      </p:sp>
      <p:sp>
        <p:nvSpPr>
          <p:cNvPr id="16" name="Rounded Rectangle 15"/>
          <p:cNvSpPr/>
          <p:nvPr/>
        </p:nvSpPr>
        <p:spPr>
          <a:xfrm>
            <a:off x="6187287" y="388620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24447" y="3995928"/>
            <a:ext cx="1005840" cy="182880"/>
          </a:xfrm>
          <a:prstGeom prst="roundRect">
            <a:avLst>
              <a:gd name="adj" fmla="val 15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SPARSIFICATION</a:t>
            </a:r>
          </a:p>
        </p:txBody>
      </p:sp>
      <p:sp>
        <p:nvSpPr>
          <p:cNvPr id="18" name="TextBox 17"/>
          <p:cNvSpPr txBox="1"/>
          <p:nvPr/>
        </p:nvSpPr>
        <p:spPr>
          <a:xfrm>
            <a:off x="6324447" y="423367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Gradient Sparsification and DP (2024)</a:t>
            </a:r>
          </a:p>
          <a:p>
            <a:pPr>
              <a:spcAft>
                <a:spcPts val="200"/>
              </a:spcAft>
            </a:pPr>
            <a:r>
              <a:rPr sz="900" b="1">
                <a:solidFill>
                  <a:srgbClr val="64748B"/>
                </a:solidFill>
                <a:latin typeface="Calibri"/>
              </a:rPr>
              <a:t>Paper: </a:t>
            </a:r>
            <a:r>
              <a:rPr sz="900" i="1">
                <a:solidFill>
                  <a:srgbClr val="334155"/>
                </a:solidFill>
                <a:latin typeface="Calibri"/>
              </a:rPr>
              <a:t>Communication-Efficient FL via Gradient Sparsification and Differential Privacy</a:t>
            </a:r>
          </a:p>
          <a:p>
            <a:pPr>
              <a:spcAft>
                <a:spcPts val="200"/>
              </a:spcAft>
            </a:pPr>
            <a:r>
              <a:rPr sz="850" b="1">
                <a:solidFill>
                  <a:srgbClr val="64748B"/>
                </a:solidFill>
                <a:latin typeface="Calibri"/>
              </a:rPr>
              <a:t>Authors: </a:t>
            </a:r>
            <a:r>
              <a:rPr sz="850">
                <a:solidFill>
                  <a:srgbClr val="334155"/>
                </a:solidFill>
                <a:latin typeface="Calibri"/>
              </a:rPr>
              <a:t>L. Sun, J. Xu, et al.</a:t>
            </a:r>
          </a:p>
          <a:p>
            <a:pPr>
              <a:spcAft>
                <a:spcPts val="300"/>
              </a:spcAft>
            </a:pPr>
            <a:r>
              <a:rPr sz="850" b="1">
                <a:solidFill>
                  <a:srgbClr val="64748B"/>
                </a:solidFill>
                <a:latin typeface="Calibri"/>
              </a:rPr>
              <a:t>Venue: </a:t>
            </a:r>
            <a:r>
              <a:rPr sz="850">
                <a:solidFill>
                  <a:srgbClr val="334155"/>
                </a:solidFill>
                <a:latin typeface="Calibri"/>
              </a:rPr>
              <a:t>IEEE Transactions on Information Forensics and Security (TIFS), Vol. 19, 2024</a:t>
            </a:r>
          </a:p>
          <a:p>
            <a:pPr>
              <a:spcAft>
                <a:spcPts val="300"/>
              </a:spcAft>
            </a:pPr>
            <a:r>
              <a:rPr sz="850" b="1">
                <a:solidFill>
                  <a:srgbClr val="1B365D"/>
                </a:solidFill>
                <a:latin typeface="Calibri"/>
              </a:rPr>
              <a:t>Tactical Focus: </a:t>
            </a:r>
            <a:r>
              <a:rPr sz="850">
                <a:solidFill>
                  <a:srgbClr val="334155"/>
                </a:solidFill>
                <a:latin typeface="Calibri"/>
              </a:rPr>
              <a:t>Preventing electronic eavesdropping (SIGINT) while maintaining strict bandwidth budgets over low-bandwidth tactical VHF radios. Top-k gradient sparsification (90% to 95% pruning) combined with Gaussian noise perturbation.</a:t>
            </a:r>
          </a:p>
          <a:p>
            <a:pPr>
              <a:spcAft>
                <a:spcPts val="0"/>
              </a:spcAft>
            </a:pPr>
            <a:r>
              <a:rPr sz="850" b="1">
                <a:solidFill>
                  <a:srgbClr val="16A34A"/>
                </a:solidFill>
                <a:latin typeface="Calibri"/>
              </a:rPr>
              <a:t>Our PS Takeaway: </a:t>
            </a:r>
            <a:r>
              <a:rPr sz="850" b="0">
                <a:solidFill>
                  <a:srgbClr val="334155"/>
                </a:solidFill>
                <a:latin typeface="Calibri"/>
              </a:rPr>
              <a:t>Solves our tactical radio constraint: shrinks model communication payload from 14.2 MB to 1.42 MB, enabling sub-100ms burst radio transmission to evade enemy direction-finders.</a:t>
            </a:r>
          </a:p>
        </p:txBody>
      </p:sp>
      <p:sp>
        <p:nvSpPr>
          <p:cNvPr id="19" name="TextBox 18"/>
          <p:cNvSpPr txBox="1"/>
          <p:nvPr/>
        </p:nvSpPr>
        <p:spPr>
          <a:xfrm>
            <a:off x="548640" y="6583680"/>
            <a:ext cx="11094415" cy="164592"/>
          </a:xfrm>
          <a:prstGeom prst="rect">
            <a:avLst/>
          </a:prstGeom>
          <a:noFill/>
        </p:spPr>
        <p:txBody>
          <a:bodyPr wrap="square" tIns="0" lIns="0" rIns="0" bIns="0">
            <a:spAutoFit/>
          </a:bodyPr>
          <a:lstStyle/>
          <a:p>
            <a:pPr algn="ctr">
              <a:spcBef>
                <a:spcPts val="0"/>
              </a:spcBef>
              <a:spcAft>
                <a:spcPts val="0"/>
              </a:spcAft>
              <a:defRPr sz="750" b="0" i="0">
                <a:solidFill>
                  <a:srgbClr val="64748B"/>
                </a:solidFill>
                <a:latin typeface="Calibri"/>
              </a:defRPr>
            </a:pPr>
            <a:r>
              <a:t>All papers verified from IEEE Xplore, ACM Digital Library, and Wiley Online Library. Full citations available in project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601200" cy="457200"/>
          </a:xfrm>
          <a:prstGeom prst="rect">
            <a:avLst/>
          </a:prstGeom>
          <a:noFill/>
        </p:spPr>
        <p:txBody>
          <a:bodyPr wrap="square" tIns="0" lIns="0" rIns="0" bIns="0">
            <a:spAutoFit/>
          </a:bodyPr>
          <a:lstStyle/>
          <a:p>
            <a:pPr>
              <a:spcBef>
                <a:spcPts val="0"/>
              </a:spcBef>
              <a:spcAft>
                <a:spcPts val="0"/>
              </a:spcAft>
              <a:defRPr sz="1900" b="1" i="0">
                <a:solidFill>
                  <a:srgbClr val="1B365D"/>
                </a:solidFill>
                <a:latin typeface="Calibri"/>
              </a:defRPr>
            </a:pPr>
            <a:r>
              <a:t>Authentic Open Datasets: 100% Free, Legal and Verified</a:t>
            </a:r>
          </a:p>
        </p:txBody>
      </p:sp>
      <p:sp>
        <p:nvSpPr>
          <p:cNvPr id="4" name="TextBox 3"/>
          <p:cNvSpPr txBox="1"/>
          <p:nvPr/>
        </p:nvSpPr>
        <p:spPr>
          <a:xfrm>
            <a:off x="548640" y="713232"/>
            <a:ext cx="9601200" cy="274320"/>
          </a:xfrm>
          <a:prstGeom prst="rect">
            <a:avLst/>
          </a:prstGeom>
          <a:noFill/>
        </p:spPr>
        <p:txBody>
          <a:bodyPr wrap="square" tIns="0" lIns="0" rIns="0" bIns="0">
            <a:spAutoFit/>
          </a:bodyPr>
          <a:lstStyle/>
          <a:p>
            <a:pPr>
              <a:spcBef>
                <a:spcPts val="0"/>
              </a:spcBef>
              <a:spcAft>
                <a:spcPts val="0"/>
              </a:spcAft>
              <a:defRPr sz="1100" b="0" i="1">
                <a:solidFill>
                  <a:srgbClr val="64748B"/>
                </a:solidFill>
                <a:latin typeface="Calibri"/>
              </a:defRPr>
            </a:pPr>
            <a:r>
              <a:t>Realistic High-Altitude Border Resupply Simulation using Open Scientific Repositories</a:t>
            </a:r>
          </a:p>
        </p:txBody>
      </p:sp>
      <p:sp>
        <p:nvSpPr>
          <p:cNvPr id="5" name="Rounded Rectangle 4"/>
          <p:cNvSpPr/>
          <p:nvPr/>
        </p:nvSpPr>
        <p:spPr>
          <a:xfrm>
            <a:off x="10241280" y="320040"/>
            <a:ext cx="1371600" cy="219456"/>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VERIFIED OPEN DATA</a:t>
            </a:r>
          </a:p>
        </p:txBody>
      </p:sp>
      <p:sp>
        <p:nvSpPr>
          <p:cNvPr id="6" name="Rounded Rectangle 5"/>
          <p:cNvSpPr/>
          <p:nvPr/>
        </p:nvSpPr>
        <p:spPr>
          <a:xfrm>
            <a:off x="10241280" y="594360"/>
            <a:ext cx="1371600" cy="219456"/>
          </a:xfrm>
          <a:prstGeom prst="roundRect">
            <a:avLst>
              <a:gd name="adj" fmla="val 15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INDIA CONTEXT</a:t>
            </a:r>
          </a:p>
        </p:txBody>
      </p:sp>
      <p:sp>
        <p:nvSpPr>
          <p:cNvPr id="7" name="Rounded Rectangle 6"/>
          <p:cNvSpPr/>
          <p:nvPr/>
        </p:nvSpPr>
        <p:spPr>
          <a:xfrm>
            <a:off x="548640" y="109728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207008"/>
            <a:ext cx="1097280" cy="182880"/>
          </a:xfrm>
          <a:prstGeom prst="roundRect">
            <a:avLst>
              <a:gd name="adj" fmla="val 15000"/>
            </a:avLst>
          </a:prstGeom>
          <a:solidFill>
            <a:srgbClr val="155E75"/>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SATELLITE DEM</a:t>
            </a:r>
          </a:p>
        </p:txBody>
      </p:sp>
      <p:sp>
        <p:nvSpPr>
          <p:cNvPr id="9" name="TextBox 8"/>
          <p:cNvSpPr txBox="1"/>
          <p:nvPr/>
        </p:nvSpPr>
        <p:spPr>
          <a:xfrm>
            <a:off x="685800" y="144475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NASA / ISRO Himalayan Elevation (30m DEM)</a:t>
            </a:r>
          </a:p>
          <a:p>
            <a:pPr>
              <a:spcAft>
                <a:spcPts val="200"/>
              </a:spcAft>
            </a:pPr>
            <a:r>
              <a:rPr sz="850" b="1">
                <a:solidFill>
                  <a:srgbClr val="64748B"/>
                </a:solidFill>
                <a:latin typeface="Calibri"/>
              </a:rPr>
              <a:t>Custodian: </a:t>
            </a:r>
            <a:r>
              <a:rPr sz="850">
                <a:solidFill>
                  <a:srgbClr val="334155"/>
                </a:solidFill>
                <a:latin typeface="Calibri"/>
              </a:rPr>
              <a:t>NASA Jet Propulsion Laboratory and ISRO (via OpenTopography / USGS EarthExplorer)</a:t>
            </a:r>
          </a:p>
          <a:p>
            <a:pPr>
              <a:spcAft>
                <a:spcPts val="200"/>
              </a:spcAft>
            </a:pPr>
            <a:r>
              <a:rPr sz="850" b="1">
                <a:solidFill>
                  <a:srgbClr val="64748B"/>
                </a:solidFill>
                <a:latin typeface="Calibri"/>
              </a:rPr>
              <a:t>Size and Format: </a:t>
            </a:r>
            <a:r>
              <a:rPr sz="850">
                <a:solidFill>
                  <a:srgbClr val="334155"/>
                </a:solidFill>
                <a:latin typeface="Calibri"/>
              </a:rPr>
              <a:t>~85 MB GeoTIFF raster elevation tiles (30-meter spatial resolution)</a:t>
            </a:r>
          </a:p>
          <a:p>
            <a:pPr>
              <a:spcAft>
                <a:spcPts val="200"/>
              </a:spcAft>
            </a:pPr>
            <a:r>
              <a:rPr sz="850" b="1">
                <a:solidFill>
                  <a:srgbClr val="64748B"/>
                </a:solidFill>
                <a:latin typeface="Calibri"/>
              </a:rPr>
              <a:t>Key Features: </a:t>
            </a:r>
            <a:r>
              <a:rPr sz="850">
                <a:solidFill>
                  <a:srgbClr val="334155"/>
                </a:solidFill>
                <a:latin typeface="Calibri"/>
              </a:rPr>
              <a:t>Latitude, longitude, precise altitude above sea level, slope steepness, ridge lines, and valley corridors covering Leh, Ladakh, and Kargil frontier regions.</a:t>
            </a:r>
          </a:p>
          <a:p>
            <a:pPr>
              <a:spcAft>
                <a:spcPts val="300"/>
              </a:spcAft>
            </a:pPr>
            <a:r>
              <a:rPr sz="850" b="1">
                <a:solidFill>
                  <a:srgbClr val="64748B"/>
                </a:solidFill>
                <a:latin typeface="Calibri"/>
              </a:rPr>
              <a:t>Direct Access: </a:t>
            </a:r>
            <a:r>
              <a:rPr sz="850">
                <a:solidFill>
                  <a:srgbClr val="2563EB"/>
                </a:solidFill>
                <a:latin typeface="Calibri"/>
              </a:rPr>
              <a:t>Free download: portal.opentopography.org or USGS EarthExplorer</a:t>
            </a:r>
          </a:p>
          <a:p>
            <a:pPr>
              <a:spcAft>
                <a:spcPts val="0"/>
              </a:spcAft>
            </a:pPr>
            <a:r>
              <a:rPr sz="850" b="1">
                <a:solidFill>
                  <a:srgbClr val="16A34A"/>
                </a:solidFill>
                <a:latin typeface="Calibri"/>
              </a:rPr>
              <a:t>Tactical Simulation Role: </a:t>
            </a:r>
            <a:r>
              <a:rPr sz="850">
                <a:solidFill>
                  <a:srgbClr val="334155"/>
                </a:solidFill>
                <a:latin typeface="Calibri"/>
              </a:rPr>
              <a:t>Models low-altitude drone flight paths hidden behind mountain ridges from enemy radar line-of-sight. Calculates slope penalty for convoy route optimization.</a:t>
            </a:r>
          </a:p>
        </p:txBody>
      </p:sp>
      <p:sp>
        <p:nvSpPr>
          <p:cNvPr id="10" name="Rounded Rectangle 9"/>
          <p:cNvSpPr/>
          <p:nvPr/>
        </p:nvSpPr>
        <p:spPr>
          <a:xfrm>
            <a:off x="6187287" y="109728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4447" y="1207008"/>
            <a:ext cx="1097280" cy="182880"/>
          </a:xfrm>
          <a:prstGeom prst="roundRect">
            <a:avLst>
              <a:gd name="adj" fmla="val 15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ROAD GRAPH</a:t>
            </a:r>
          </a:p>
        </p:txBody>
      </p:sp>
      <p:sp>
        <p:nvSpPr>
          <p:cNvPr id="12" name="TextBox 11"/>
          <p:cNvSpPr txBox="1"/>
          <p:nvPr/>
        </p:nvSpPr>
        <p:spPr>
          <a:xfrm>
            <a:off x="6324447" y="144475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Strategic Mountain Road Graph (OSMnx)</a:t>
            </a:r>
          </a:p>
          <a:p>
            <a:pPr>
              <a:spcAft>
                <a:spcPts val="200"/>
              </a:spcAft>
            </a:pPr>
            <a:r>
              <a:rPr sz="850" b="1">
                <a:solidFill>
                  <a:srgbClr val="64748B"/>
                </a:solidFill>
                <a:latin typeface="Calibri"/>
              </a:rPr>
              <a:t>Custodian: </a:t>
            </a:r>
            <a:r>
              <a:rPr sz="850">
                <a:solidFill>
                  <a:srgbClr val="334155"/>
                </a:solidFill>
                <a:latin typeface="Calibri"/>
              </a:rPr>
              <a:t>OpenStreetMap Project via Python OSMnx Library</a:t>
            </a:r>
          </a:p>
          <a:p>
            <a:pPr>
              <a:spcAft>
                <a:spcPts val="200"/>
              </a:spcAft>
            </a:pPr>
            <a:r>
              <a:rPr sz="850" b="1">
                <a:solidFill>
                  <a:srgbClr val="64748B"/>
                </a:solidFill>
                <a:latin typeface="Calibri"/>
              </a:rPr>
              <a:t>Size and Format: </a:t>
            </a:r>
            <a:r>
              <a:rPr sz="850">
                <a:solidFill>
                  <a:srgbClr val="334155"/>
                </a:solidFill>
                <a:latin typeface="Calibri"/>
              </a:rPr>
              <a:t>~12 MB NetworkX graph containing over 15,000 drivable road segments</a:t>
            </a:r>
          </a:p>
          <a:p>
            <a:pPr>
              <a:spcAft>
                <a:spcPts val="200"/>
              </a:spcAft>
            </a:pPr>
            <a:r>
              <a:rPr sz="850" b="1">
                <a:solidFill>
                  <a:srgbClr val="64748B"/>
                </a:solidFill>
                <a:latin typeface="Calibri"/>
              </a:rPr>
              <a:t>Key Features: </a:t>
            </a:r>
            <a:r>
              <a:rPr sz="850">
                <a:solidFill>
                  <a:srgbClr val="334155"/>
                </a:solidFill>
                <a:latin typeface="Calibri"/>
              </a:rPr>
              <a:t>Drivable mountain roads across strategic passes (Khardung La, Chang La, Zojila), bridges, hairpin turns, and unpaved military supply tracks.</a:t>
            </a:r>
          </a:p>
          <a:p>
            <a:pPr>
              <a:spcAft>
                <a:spcPts val="300"/>
              </a:spcAft>
            </a:pPr>
            <a:r>
              <a:rPr sz="850" b="1">
                <a:solidFill>
                  <a:srgbClr val="64748B"/>
                </a:solidFill>
                <a:latin typeface="Calibri"/>
              </a:rPr>
              <a:t>Direct Access: </a:t>
            </a:r>
            <a:r>
              <a:rPr sz="850">
                <a:solidFill>
                  <a:srgbClr val="2563EB"/>
                </a:solidFill>
                <a:latin typeface="Calibri"/>
              </a:rPr>
              <a:t>Python: import osmnx as ox; G = ox.graph_from_place('Leh, Ladakh, India', network_type='drive')</a:t>
            </a:r>
          </a:p>
          <a:p>
            <a:pPr>
              <a:spcAft>
                <a:spcPts val="0"/>
              </a:spcAft>
            </a:pPr>
            <a:r>
              <a:rPr sz="850" b="1">
                <a:solidFill>
                  <a:srgbClr val="16A34A"/>
                </a:solidFill>
                <a:latin typeface="Calibri"/>
              </a:rPr>
              <a:t>Tactical Simulation Role: </a:t>
            </a:r>
            <a:r>
              <a:rPr sz="850">
                <a:solidFill>
                  <a:srgbClr val="334155"/>
                </a:solidFill>
                <a:latin typeface="Calibri"/>
              </a:rPr>
              <a:t>Physical road topology connecting rear logistics depots (Leh, Srinagar) to forward operating bases on the Nyoma and Daulat Beg Oldi axis.</a:t>
            </a:r>
          </a:p>
        </p:txBody>
      </p:sp>
      <p:sp>
        <p:nvSpPr>
          <p:cNvPr id="13" name="Rounded Rectangle 12"/>
          <p:cNvSpPr/>
          <p:nvPr/>
        </p:nvSpPr>
        <p:spPr>
          <a:xfrm>
            <a:off x="548640" y="388620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3995928"/>
            <a:ext cx="1097280" cy="182880"/>
          </a:xfrm>
          <a:prstGeom prst="roundRect">
            <a:avLst>
              <a:gd name="adj" fmla="val 15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VRP BENCHMARK</a:t>
            </a:r>
          </a:p>
        </p:txBody>
      </p:sp>
      <p:sp>
        <p:nvSpPr>
          <p:cNvPr id="15" name="TextBox 14"/>
          <p:cNvSpPr txBox="1"/>
          <p:nvPr/>
        </p:nvSpPr>
        <p:spPr>
          <a:xfrm>
            <a:off x="685800" y="423367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Multi-Depot Resupply Benchmark (VRPTW)</a:t>
            </a:r>
          </a:p>
          <a:p>
            <a:pPr>
              <a:spcAft>
                <a:spcPts val="200"/>
              </a:spcAft>
            </a:pPr>
            <a:r>
              <a:rPr sz="850" b="1">
                <a:solidFill>
                  <a:srgbClr val="64748B"/>
                </a:solidFill>
                <a:latin typeface="Calibri"/>
              </a:rPr>
              <a:t>Custodian: </a:t>
            </a:r>
            <a:r>
              <a:rPr sz="850">
                <a:solidFill>
                  <a:srgbClr val="334155"/>
                </a:solidFill>
                <a:latin typeface="Calibri"/>
              </a:rPr>
              <a:t>Transportation Science and SINTEF Applied Mathematics Open Archive</a:t>
            </a:r>
          </a:p>
          <a:p>
            <a:pPr>
              <a:spcAft>
                <a:spcPts val="200"/>
              </a:spcAft>
            </a:pPr>
            <a:r>
              <a:rPr sz="850" b="1">
                <a:solidFill>
                  <a:srgbClr val="64748B"/>
                </a:solidFill>
                <a:latin typeface="Calibri"/>
              </a:rPr>
              <a:t>Size and Format: </a:t>
            </a:r>
            <a:r>
              <a:rPr sz="850">
                <a:solidFill>
                  <a:srgbClr val="334155"/>
                </a:solidFill>
                <a:latin typeface="Calibri"/>
              </a:rPr>
              <a:t>~15 MB structured plain-text benchmark instances (200 to 1,000 customer nodes)</a:t>
            </a:r>
          </a:p>
          <a:p>
            <a:pPr>
              <a:spcAft>
                <a:spcPts val="200"/>
              </a:spcAft>
            </a:pPr>
            <a:r>
              <a:rPr sz="850" b="1">
                <a:solidFill>
                  <a:srgbClr val="64748B"/>
                </a:solidFill>
                <a:latin typeface="Calibri"/>
              </a:rPr>
              <a:t>Key Features: </a:t>
            </a:r>
            <a:r>
              <a:rPr sz="850">
                <a:solidFill>
                  <a:srgbClr val="334155"/>
                </a:solidFill>
                <a:latin typeface="Calibri"/>
              </a:rPr>
              <a:t>Multi-vehicle capacity limits, service time durations, ready times, delivery due dates, and dynamic demand surge spikes.</a:t>
            </a:r>
          </a:p>
          <a:p>
            <a:pPr>
              <a:spcAft>
                <a:spcPts val="300"/>
              </a:spcAft>
            </a:pPr>
            <a:r>
              <a:rPr sz="850" b="1">
                <a:solidFill>
                  <a:srgbClr val="64748B"/>
                </a:solidFill>
                <a:latin typeface="Calibri"/>
              </a:rPr>
              <a:t>Direct Access: </a:t>
            </a:r>
            <a:r>
              <a:rPr sz="850">
                <a:solidFill>
                  <a:srgbClr val="2563EB"/>
                </a:solidFill>
                <a:latin typeface="Calibri"/>
              </a:rPr>
              <a:t>Free public download: sintef.no/projectweb/top/vrptw/homberger-benchmark/</a:t>
            </a:r>
          </a:p>
          <a:p>
            <a:pPr>
              <a:spcAft>
                <a:spcPts val="0"/>
              </a:spcAft>
            </a:pPr>
            <a:r>
              <a:rPr sz="850" b="1">
                <a:solidFill>
                  <a:srgbClr val="16A34A"/>
                </a:solidFill>
                <a:latin typeface="Calibri"/>
              </a:rPr>
              <a:t>Tactical Simulation Role: </a:t>
            </a:r>
            <a:r>
              <a:rPr sz="850">
                <a:solidFill>
                  <a:srgbClr val="334155"/>
                </a:solidFill>
                <a:latin typeface="Calibri"/>
              </a:rPr>
              <a:t>Simulates multi-tier replenishment: heavy trucks delivering from base depots to forward transfer hubs, handing over to light 4x4 vehicles and vertical-lift autonomous drones.</a:t>
            </a:r>
          </a:p>
        </p:txBody>
      </p:sp>
      <p:sp>
        <p:nvSpPr>
          <p:cNvPr id="16" name="Rounded Rectangle 15"/>
          <p:cNvSpPr/>
          <p:nvPr/>
        </p:nvSpPr>
        <p:spPr>
          <a:xfrm>
            <a:off x="6187287" y="3886200"/>
            <a:ext cx="5455767" cy="2606040"/>
          </a:xfrm>
          <a:prstGeom prst="roundRect">
            <a:avLst>
              <a:gd name="adj" fmla="val 4000"/>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24447" y="3995928"/>
            <a:ext cx="1097280" cy="182880"/>
          </a:xfrm>
          <a:prstGeom prst="roundRect">
            <a:avLst>
              <a:gd name="adj" fmla="val 15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tIns="12700" bIns="12700" lIns="50800" rIns="50800"/>
          <a:lstStyle/>
          <a:p>
            <a:pPr algn="ctr">
              <a:defRPr sz="700" b="1">
                <a:solidFill>
                  <a:srgbClr val="FFFFFF"/>
                </a:solidFill>
                <a:latin typeface="Calibri"/>
              </a:defRPr>
            </a:pPr>
            <a:r>
              <a:t>WEATHER DATA</a:t>
            </a:r>
          </a:p>
        </p:txBody>
      </p:sp>
      <p:sp>
        <p:nvSpPr>
          <p:cNvPr id="18" name="TextBox 17"/>
          <p:cNvSpPr txBox="1"/>
          <p:nvPr/>
        </p:nvSpPr>
        <p:spPr>
          <a:xfrm>
            <a:off x="6324447" y="4233672"/>
            <a:ext cx="5181447" cy="2167128"/>
          </a:xfrm>
          <a:prstGeom prst="rect">
            <a:avLst/>
          </a:prstGeom>
          <a:noFill/>
        </p:spPr>
        <p:txBody>
          <a:bodyPr wrap="square" tIns="0" lIns="0" rIns="0" bIns="0">
            <a:spAutoFit/>
          </a:bodyPr>
          <a:lstStyle/>
          <a:p>
            <a:pPr>
              <a:spcBef>
                <a:spcPts val="0"/>
              </a:spcBef>
              <a:spcAft>
                <a:spcPts val="300"/>
              </a:spcAft>
              <a:defRPr sz="1200" b="1" i="0">
                <a:solidFill>
                  <a:srgbClr val="1B365D"/>
                </a:solidFill>
                <a:latin typeface="Calibri"/>
              </a:defRPr>
            </a:pPr>
            <a:r>
              <a:t>Himalayan Climate and Snowfall (NASA POWER)</a:t>
            </a:r>
          </a:p>
          <a:p>
            <a:pPr>
              <a:spcAft>
                <a:spcPts val="200"/>
              </a:spcAft>
            </a:pPr>
            <a:r>
              <a:rPr sz="850" b="1">
                <a:solidFill>
                  <a:srgbClr val="64748B"/>
                </a:solidFill>
                <a:latin typeface="Calibri"/>
              </a:rPr>
              <a:t>Custodian: </a:t>
            </a:r>
            <a:r>
              <a:rPr sz="850">
                <a:solidFill>
                  <a:srgbClr val="334155"/>
                </a:solidFill>
                <a:latin typeface="Calibri"/>
              </a:rPr>
              <a:t>NASA POWER Climate Data Portal and Indian Meteorological Department (IMD)</a:t>
            </a:r>
          </a:p>
          <a:p>
            <a:pPr>
              <a:spcAft>
                <a:spcPts val="200"/>
              </a:spcAft>
            </a:pPr>
            <a:r>
              <a:rPr sz="850" b="1">
                <a:solidFill>
                  <a:srgbClr val="64748B"/>
                </a:solidFill>
                <a:latin typeface="Calibri"/>
              </a:rPr>
              <a:t>Size and Format: </a:t>
            </a:r>
            <a:r>
              <a:rPr sz="850">
                <a:solidFill>
                  <a:srgbClr val="334155"/>
                </a:solidFill>
                <a:latin typeface="Calibri"/>
              </a:rPr>
              <a:t>~25 MB CSV daily time-series records from 2018 to present</a:t>
            </a:r>
          </a:p>
          <a:p>
            <a:pPr>
              <a:spcAft>
                <a:spcPts val="200"/>
              </a:spcAft>
            </a:pPr>
            <a:r>
              <a:rPr sz="850" b="1">
                <a:solidFill>
                  <a:srgbClr val="64748B"/>
                </a:solidFill>
                <a:latin typeface="Calibri"/>
              </a:rPr>
              <a:t>Key Features: </a:t>
            </a:r>
            <a:r>
              <a:rPr sz="850">
                <a:solidFill>
                  <a:srgbClr val="334155"/>
                </a:solidFill>
                <a:latin typeface="Calibri"/>
              </a:rPr>
              <a:t>Daily ambient temperature (down to -35 degrees C), wind gust speeds, relative humidity, liquid precipitation, and snowfall depth.</a:t>
            </a:r>
          </a:p>
          <a:p>
            <a:pPr>
              <a:spcAft>
                <a:spcPts val="300"/>
              </a:spcAft>
            </a:pPr>
            <a:r>
              <a:rPr sz="850" b="1">
                <a:solidFill>
                  <a:srgbClr val="64748B"/>
                </a:solidFill>
                <a:latin typeface="Calibri"/>
              </a:rPr>
              <a:t>Direct Access: </a:t>
            </a:r>
            <a:r>
              <a:rPr sz="850">
                <a:solidFill>
                  <a:srgbClr val="2563EB"/>
                </a:solidFill>
                <a:latin typeface="Calibri"/>
              </a:rPr>
              <a:t>Free direct CSV export: power.larc.nasa.gov/data-access-viewer/</a:t>
            </a:r>
          </a:p>
          <a:p>
            <a:pPr>
              <a:spcAft>
                <a:spcPts val="0"/>
              </a:spcAft>
            </a:pPr>
            <a:r>
              <a:rPr sz="850" b="1">
                <a:solidFill>
                  <a:srgbClr val="16A34A"/>
                </a:solidFill>
                <a:latin typeface="Calibri"/>
              </a:rPr>
              <a:t>Tactical Simulation Role: </a:t>
            </a:r>
            <a:r>
              <a:rPr sz="850">
                <a:solidFill>
                  <a:srgbClr val="334155"/>
                </a:solidFill>
                <a:latin typeface="Calibri"/>
              </a:rPr>
              <a:t>Introduces realistic environmental delays: blizzards and icing conditions that force autonomous drones and convoys to dynamically reroute around hazardous corridors.</a:t>
            </a:r>
          </a:p>
        </p:txBody>
      </p:sp>
      <p:sp>
        <p:nvSpPr>
          <p:cNvPr id="19" name="TextBox 18"/>
          <p:cNvSpPr txBox="1"/>
          <p:nvPr/>
        </p:nvSpPr>
        <p:spPr>
          <a:xfrm>
            <a:off x="548640" y="6583680"/>
            <a:ext cx="11094415" cy="164592"/>
          </a:xfrm>
          <a:prstGeom prst="rect">
            <a:avLst/>
          </a:prstGeom>
          <a:noFill/>
        </p:spPr>
        <p:txBody>
          <a:bodyPr wrap="square" tIns="0" lIns="0" rIns="0" bIns="0">
            <a:spAutoFit/>
          </a:bodyPr>
          <a:lstStyle/>
          <a:p>
            <a:pPr algn="ctr">
              <a:spcBef>
                <a:spcPts val="0"/>
              </a:spcBef>
              <a:spcAft>
                <a:spcPts val="0"/>
              </a:spcAft>
              <a:defRPr sz="750" b="0" i="0">
                <a:solidFill>
                  <a:srgbClr val="64748B"/>
                </a:solidFill>
                <a:latin typeface="Calibri"/>
              </a:defRPr>
            </a:pPr>
            <a:r>
              <a:t>All datasets verified as freely accessible. No registration walls, no commercial licenses. Direct download links confirmed as of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